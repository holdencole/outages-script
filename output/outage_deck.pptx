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095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210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554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14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095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325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128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095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10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554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899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014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128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095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325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554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69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784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7899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014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128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095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210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325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554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669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784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899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014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128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095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10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325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1440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554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669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784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899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014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6128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095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210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325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554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669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784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99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014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128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095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210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325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1440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5554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669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3784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899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2014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6128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095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210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325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1440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5554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9669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3784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899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2014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6128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9095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3210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325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40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5554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9669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784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7899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014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6128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095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210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7325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1440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554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9669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3784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99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014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6128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095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210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7325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1440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5554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9669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784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7899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4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6128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095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3210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325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440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554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9669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3784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7899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014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128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095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3210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325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1440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554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9669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3784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7899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2014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6128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15th, 2026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265176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1792" y="310896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Outages</a:t>
            </a:r>
          </a:p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2027 Outlook by Unit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89204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58368" y="5074920"/>
            <a:ext cx="7223760" cy="8229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D6E0F0"/>
                </a:solidFill>
                <a:latin typeface="Arial"/>
              </a:rPr>
              <a:t>Capacity offline by unit, region &amp; operator - and what it tightens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B6DB"/>
                </a:solidFill>
                <a:latin typeface="Arial"/>
              </a:rPr>
              <a:t>2027: ExxonMobil full-year (verified vs their plan); all other operators H1-confirmed only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Total 2027 Outages by Unit - and What They Tighten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Capacity offline by unit &amp; month; solid = confirmed, hatched = non-Exxon H2 (not yet booked)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splits_2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75566"/>
            <a:ext cx="8138160" cy="46726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Crude (CDU) down = the whole refinery's run is cut - every product from that site. FCC down = gasoline + octane. Reformer = octane. Hydrocracker = diesel / jet.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66395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599944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Confirmed 2027 peak: CDU ~1,960, FCC ~654, hydrocracker ~286, reformer ~277 kbd - all in H1.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3131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249168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Read units separately, never added: a 250-kbd CDU plus a 100-kbd FCC is not '350 offline'.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39624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7968" y="3898392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Solid = confirmed (Exxon full-year + everyone's H1). Hatched = non-Exxon H2, still being booked - don't trade the autumn spike as real.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Concurrent capacity offline, each unit counted once per month. Non-Exxon H2 2027 is a floor that fills in. Verified-bad Exxon records excluded.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Outages by PADD by Unit - Where It Tightens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crude (CDU, top) and cat-cracker (FCC, bottom) offline by region &amp;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cdu_padd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754" y="1234440"/>
            <a:ext cx="4290011" cy="2331720"/>
          </a:xfrm>
          <a:prstGeom prst="rect">
            <a:avLst/>
          </a:prstGeom>
        </p:spPr>
      </p:pic>
      <p:pic>
        <p:nvPicPr>
          <p:cNvPr id="7" name="Picture 6" descr="fcc_padd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2694" y="3703320"/>
            <a:ext cx="4284131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3 (Gulf) is the swing region - most crude and FCC work lands there, tightening USGC supply and the export barrel.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478024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2 (Midwest) carries the spring crude (the Joliet event). PADD 5 (West) is islanded - a California outage doesn't get bailed out by other regions.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2369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17296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Timing: spring (Mar-May) and autumn (Sep-Oct) are the windows; summer is protected for driving-season gasoline.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93192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867912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Past the dotted line (H2) is non-Exxon-unconfirmed - those autumn bars are a floor and grow as operators book.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Concurrent capacity offline by month, stacked by PADD. P1 NE, P2 Midwest, P3 Gulf, P4 Rockies, P5 West.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ExxonMobil 2027 - Per Unit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Each unit's turnaround as its own bar, nameplate capacity offline (kbd)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exxon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5735"/>
            <a:ext cx="8138160" cy="39722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ExxonMobil is the only operator with a full-year 2027 plan - so it's the one refiner whose H2 we can confirm. Everyone else is H1-only.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66395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599944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Per unit, never summed - the 'Exxon ~700 kbd' figure was 8 Joliet units in one April turnaround added together; it's really ~250 kbd of crude.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480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416808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Exxon's verified 2027 slate: Baytown &amp; Beaumont FCC in Q1, Joliet crude+vacuum Apr-May, Baton Rouge crude in autumn.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Per-unit nameplate offline from the verified outage book.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Unplanned Scenario - the Risk on Top of Planned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Potential unplanned offline (kbd) modeled off the 2022-25 seasonal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431" y="1234440"/>
            <a:ext cx="5048658" cy="2331720"/>
          </a:xfrm>
          <a:prstGeom prst="rect">
            <a:avLst/>
          </a:prstGeom>
        </p:spPr>
      </p:pic>
      <p:pic>
        <p:nvPicPr>
          <p:cNvPr id="7" name="Picture 6" descr="scenario_to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79" y="3703320"/>
            <a:ext cx="6563361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has no actual unplanned yet - this is the risk range to carry on top of the booked planned slate.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35000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Average ~13,296 kbd unplanned; Conservative ~10,637 (calm year), Active ~17,285 (heavy). Booked planned is ~15,691 kbd.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10896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044952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Implied total ~26,328 / ~28,987 / ~32,976 kbd (Conservative / Average / Active).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6758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6118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Risk peaks in Feb (winter freeze) and Sep-Oct (turnaround overlap); summer is the trough.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242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178808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Trade it: Active = stress case for supply tightness; Conservative = the floor.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Scenario = mean 2022-25 monthly unplanned shape x {0.8 / 1.0 / 1.3}. A risk range, not a forecast; fully tunable in the Excel Scenario tab.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