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74320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20040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 &amp;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Turnaround Outlook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98348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166360"/>
            <a:ext cx="676656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D6E0F0"/>
                </a:solidFill>
                <a:latin typeface="Arial"/>
              </a:rPr>
              <a:t>Capacity offline (kbd) - planned &amp; unplanned - 2027 scenario   |   46,464 rows, 2010-2038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vs 2026 &amp; 2025 - Planned Offline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US planned capacity offline (kbd); 2027 book complete through H1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planned_x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396" y="1234440"/>
            <a:ext cx="4872728" cy="2331720"/>
          </a:xfrm>
          <a:prstGeom prst="rect">
            <a:avLst/>
          </a:prstGeom>
        </p:spPr>
      </p:pic>
      <p:pic>
        <p:nvPicPr>
          <p:cNvPr id="7" name="Picture 6" descr="padd_p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11" y="3703320"/>
            <a:ext cx="6573098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H1 is the clean read: 2027 H1 planned ~9,211 kbd vs 2026 H1 ~8,162 (+13%) - a real, like-for-like step 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Full-year looks larger (+32% vs 2026) only because 2026 H2 is light/incomplete; don't over-read it - 2027 H2 is still being scheduled.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Gulf Coast leads the build: PADD 3 planned +73% y/y; PADD 2 is the only region lighter (-14%).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73989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Work concentrates in spring (Mar-May) and autumn (Sep-Oct) - the usual turnaround windows.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3708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3068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Only planned is comparable vs 2027 (no actual unplanned-2027 exists); the unplanned outlook is next.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2027 planned data is incomplete past H1 - compare H1-vs-H1; the full-year bar fills in as operators book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Potential Unplanned - Scenario 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Conservative / Average / Active paths off the 2022-25 seasonal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31" y="1234440"/>
            <a:ext cx="5048658" cy="2331720"/>
          </a:xfrm>
          <a:prstGeom prst="rect">
            <a:avLst/>
          </a:prstGeom>
        </p:spPr>
      </p:pic>
      <p:pic>
        <p:nvPicPr>
          <p:cNvPr id="7" name="Picture 6" descr="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395" y="3703320"/>
            <a:ext cx="472073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case ~21,788 kbd unplanned; Conservative ~17,431 (calm year, x0.8), Active ~28,325 (heavy year, x1.3).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 top of 15,923 kbd booked planned, that's an implied total of ~33,354 / ~37,711 / ~44,248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Active vs Conservative spans ~10,894 kbd (+62%) - the unplanned risk range to hedge.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overlap), with a summer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Fully tunable in the Excel Scenario Analysis sheet - window, growth, multiplier, one-off and stress month.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in Dollars - Gross Margin at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Offline capacity valued at the gasoline crack spread (EIA NYH gasoline - WTI)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do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178" y="1234440"/>
            <a:ext cx="4949164" cy="2331720"/>
          </a:xfrm>
          <a:prstGeom prst="rect">
            <a:avLst/>
          </a:prstGeom>
        </p:spPr>
      </p:pic>
      <p:pic>
        <p:nvPicPr>
          <p:cNvPr id="7" name="Picture 6" descr="dollar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70" y="3703320"/>
            <a:ext cx="656618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Valuing offline capacity at the gasoline crack turns outages into P&amp;L: 2025 unplanned outages = ~$10.8bn gross margin at risk (crack ~$19/bbl).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Planned turnarounds ~$10.6bn, timed into softer-margin shoulder seasons.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Crack has firmed to ~$33/bbl in 2026 (from ~$19), so the same offline volume is worth materially more this year.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73989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2020-21 spikes ($35bn+) reflect the COVID / Winter-Storm-Uri extremes, not normal years.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3708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3068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Crack is a Bloomberg-overwritable input in the Excel Margin Context sheet (swap EIA seed for RBOB 321).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$MM = offline kbd x crack ($/bbl) x days / 1000. A gross-margin proxy; unplanned = unexpected supply loss, planned = margin deferred via scheduled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Back-to-Back-to-Back FCC Outages - ExxonMobil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Consecutive-month FCC (cat cracker) runs external trackers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55" y="1234440"/>
            <a:ext cx="6000409" cy="2331720"/>
          </a:xfrm>
          <a:prstGeom prst="rect">
            <a:avLst/>
          </a:prstGeom>
        </p:spPr>
      </p:pic>
      <p:pic>
        <p:nvPicPr>
          <p:cNvPr id="7" name="Picture 6" descr="fcc_y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87" y="3703320"/>
            <a:ext cx="6254146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This granular book captures repeated FCC outages in adjacent months at the same Exxon plant - genuine back-to-back-to-back runs.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Baton Rouge ran Jan-Jun 2022 (6 months); Joliet Feb-Jun 2026 (5); Baytown Jan-Mar 2023; Joliet Feb-May 2025.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Month-aggregated external trackers smooth these into one figure and lose the consecutive-run signal.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73989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18 such Exxon FCC runs (&gt;=3 consecutive months) since 2011 - a recurring, model-able pattern.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3708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3068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FCC is the most gasoline-relevant unit loss (0.65 mogas yield) - octane/blending risk stacks.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Runs outlined are &gt;=3 consecutive calendar months of FCC outage at one plant; 2020 excluded.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- 2027 Outages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is planned-only; this is Exxon's booked turnaround slate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exxon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94" y="1234440"/>
            <a:ext cx="4947731" cy="2331720"/>
          </a:xfrm>
          <a:prstGeom prst="rect">
            <a:avLst/>
          </a:prstGeom>
        </p:spPr>
      </p:pic>
      <p:pic>
        <p:nvPicPr>
          <p:cNvPr id="7" name="Picture 6" descr="exxon_un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644" y="3703320"/>
            <a:ext cx="6604232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ExxonMobil has ~2,378 kbd of planned offline booked for 2027 across 4 refineries.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Joliet (PADD 2) dominates at ~1,319 kbd (~55%) - a major spring (Apr-May) turnaround including the FCC.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291693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Beaumont ~382, Baytown ~375, Baton Rouge ~302 kbd round out the slate.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48386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By unit: crude trains ~946 (atmos+vac), FCC ~562, hydrotreating ~474 kbd.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05079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Calendar: heaviest in April with a second wave in Sep-Oct - watch the Joliet spring event.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Planned 2027 by Region - All PADDs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Per-PADD monthly offline: 2026 actuals, recent-year totals and the 2027 booked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padd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61795"/>
            <a:ext cx="7955279" cy="4700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371600"/>
            <a:ext cx="34290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54964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1783080"/>
            <a:ext cx="322783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2027 planned offline vs 2026, by region (kbd):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232867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62288" y="226466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1: ~389 vs ~186  (+109%).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0" y="269443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2288" y="263042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2: ~3,995 vs ~4,634  (-14%).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06019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62288" y="299618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3: ~8,546 vs ~4,929  (+73%).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342595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62288" y="336194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4: ~974 vs ~517  (+88%).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79171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2288" y="372770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5: ~2,018 vs ~1,764  (+14%).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4157471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0808" y="4093463"/>
            <a:ext cx="322783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National ~15,923 kbd in 2027 vs ~12,029 in 2026 (+32%) - Gulf Coast (PADD 3) leads the build.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49640" y="4806695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0808" y="4742687"/>
            <a:ext cx="322783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Each panel: 2026 plan+unplanned (bars), recent-year totals (lines), 2027 plan (green dashed).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2027 is planned-only and complete through H1; H2 books fill in. 2020-21 excluded.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Largest 2027 Turnarounds Nationally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turnaround schedule - offline capacity, kbd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10652760" cy="422452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2468880"/>
                <a:gridCol w="731520"/>
                <a:gridCol w="777240"/>
                <a:gridCol w="731520"/>
                <a:gridCol w="868680"/>
                <a:gridCol w="86868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Refinery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Offline
(kbd)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of
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Start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End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Chevron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Richmond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232.8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11.5%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10/1/27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10/30/27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Motiva Enterprises Llc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Port Arthur Refinery (Motiva)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203.0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10/7/27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Shell Oil Products Us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Norco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196.8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10/2/27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11/20/27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189.8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4.7%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9/2/27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10/21/27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161.2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4.0%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4/5/27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5/13/27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Motiva Enterprises Llc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Port Arthur Refinery (Motiva)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147.0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1.7%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9/17/27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10/31/27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Bp Products North America Inco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Cherry Point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120.0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5.9%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3/12/27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3/26/27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Citgo Petroleum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Lemont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114.6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2.9%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4/9/27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5/18/27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94.9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1/15/27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2/4/27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94.7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11/1/27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94.7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11/1/27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Beaumont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93.6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1/7/27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Fluid Cat Cracking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Martinez Refining Company Llc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Martinez Refinery (PBF)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89.9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4.5%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1/15/27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3/6/27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82.3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4/2/27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5/22/27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Fluid Cat Cracking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Top planned 2027 turnarounds by offline capacity (kbd), all PADDs. 2027 is planned-only and complete through H1; H2 books continue to fill 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