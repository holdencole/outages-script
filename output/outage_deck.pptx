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1828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88920"/>
            <a:ext cx="12191695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365760"/>
            <a:ext cx="320040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10789920" cy="146304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0" i="0">
                <a:solidFill>
                  <a:srgbClr val="FFFFFF"/>
                </a:solidFill>
                <a:latin typeface="Arial"/>
              </a:rPr>
              <a:t>Refinery Outage Analytics</a:t>
            </a:r>
          </a:p>
          <a:p>
            <a:pPr algn="l">
              <a:spcAft>
                <a:spcPts val="800"/>
              </a:spcAft>
            </a:pPr>
            <a:r>
              <a:rPr sz="2600" b="0" i="0">
                <a:solidFill>
                  <a:srgbClr val="D6E0F0"/>
                </a:solidFill>
                <a:latin typeface="Arial"/>
              </a:rPr>
              <a:t>Weekly Gasoline / Mogas Meeting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029200"/>
            <a:ext cx="10058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D6E0F0"/>
                </a:solidFill>
                <a:latin typeface="Arial"/>
              </a:rPr>
              <a:t>Capacity offline (kbd) - planned &amp; unplanned - 2027 scenario   |   46,456 rows, 2010-2038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00800"/>
            <a:ext cx="15544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At-a-glance metrics and what matters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34440"/>
            <a:ext cx="2142073" cy="3657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52728"/>
            <a:ext cx="2142073" cy="329184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Total Offline FY2025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142073" cy="914400"/>
          </a:xfrm>
          <a:prstGeom prst="rect">
            <a:avLst/>
          </a:prstGeom>
          <a:solidFill>
            <a:srgbClr val="D6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45920"/>
            <a:ext cx="2142073" cy="56692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 i="0">
                <a:solidFill>
                  <a:srgbClr val="1F3864"/>
                </a:solidFill>
                <a:latin typeface="Arial"/>
              </a:rPr>
              <a:t>38,674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212848"/>
            <a:ext cx="2142073" cy="25603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 i="1">
                <a:solidFill>
                  <a:srgbClr val="595959"/>
                </a:solidFill>
                <a:latin typeface="Arial"/>
              </a:rPr>
              <a:t>kbd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18145" y="1234440"/>
            <a:ext cx="2142073" cy="3657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18145" y="1252728"/>
            <a:ext cx="2142073" cy="329184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Unplanned FY2025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18145" y="1600200"/>
            <a:ext cx="2142073" cy="914400"/>
          </a:xfrm>
          <a:prstGeom prst="rect">
            <a:avLst/>
          </a:prstGeom>
          <a:solidFill>
            <a:srgbClr val="D6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8145" y="1645920"/>
            <a:ext cx="2142073" cy="56692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 i="0">
                <a:solidFill>
                  <a:srgbClr val="1F3864"/>
                </a:solidFill>
                <a:latin typeface="Arial"/>
              </a:rPr>
              <a:t>19,258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8145" y="2212848"/>
            <a:ext cx="2142073" cy="25603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 i="1">
                <a:solidFill>
                  <a:srgbClr val="595959"/>
                </a:solidFill>
                <a:latin typeface="Arial"/>
              </a:rPr>
              <a:t>kbd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4810" y="1234440"/>
            <a:ext cx="2142073" cy="3657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4810" y="1252728"/>
            <a:ext cx="2142073" cy="329184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Unplanned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4810" y="1600200"/>
            <a:ext cx="2142073" cy="914400"/>
          </a:xfrm>
          <a:prstGeom prst="rect">
            <a:avLst/>
          </a:prstGeom>
          <a:solidFill>
            <a:srgbClr val="D6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4810" y="1645920"/>
            <a:ext cx="2142073" cy="56692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 i="0">
                <a:solidFill>
                  <a:srgbClr val="1F3864"/>
                </a:solidFill>
                <a:latin typeface="Arial"/>
              </a:rPr>
              <a:t>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810" y="2212848"/>
            <a:ext cx="2142073" cy="25603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 i="1">
                <a:solidFill>
                  <a:srgbClr val="595959"/>
                </a:solidFill>
                <a:latin typeface="Arial"/>
              </a:rPr>
              <a:t>of total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31476" y="1234440"/>
            <a:ext cx="2142073" cy="3657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1476" y="1252728"/>
            <a:ext cx="2142073" cy="329184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Distinct Outages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31476" y="1600200"/>
            <a:ext cx="2142073" cy="914400"/>
          </a:xfrm>
          <a:prstGeom prst="rect">
            <a:avLst/>
          </a:prstGeom>
          <a:solidFill>
            <a:srgbClr val="D6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31476" y="1645920"/>
            <a:ext cx="2142073" cy="56692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 i="0">
                <a:solidFill>
                  <a:srgbClr val="1F3864"/>
                </a:solidFill>
                <a:latin typeface="Arial"/>
              </a:rPr>
              <a:t>1,213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1476" y="2212848"/>
            <a:ext cx="2142073" cy="25603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 i="1">
                <a:solidFill>
                  <a:srgbClr val="595959"/>
                </a:solidFill>
                <a:latin typeface="Arial"/>
              </a:rPr>
              <a:t>FY2025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38141" y="1234440"/>
            <a:ext cx="2142073" cy="3657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38141" y="1252728"/>
            <a:ext cx="2142073" cy="329184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Top PADD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38141" y="1600200"/>
            <a:ext cx="2142073" cy="914400"/>
          </a:xfrm>
          <a:prstGeom prst="rect">
            <a:avLst/>
          </a:prstGeom>
          <a:solidFill>
            <a:srgbClr val="D6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38141" y="1645920"/>
            <a:ext cx="2142073" cy="56692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 i="0">
                <a:solidFill>
                  <a:srgbClr val="1F3864"/>
                </a:solidFill>
                <a:latin typeface="Arial"/>
              </a:rPr>
              <a:t>PADD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8141" y="2212848"/>
            <a:ext cx="2142073" cy="25603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 i="1">
                <a:solidFill>
                  <a:srgbClr val="595959"/>
                </a:solidFill>
                <a:latin typeface="Arial"/>
              </a:rPr>
              <a:t>unplanned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990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2926080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PADD 5 carries ~20% of US unplanned capacity offline; PADD 2 ~25% and PADD 5 ~20% are the next watch regions.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557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493008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FY2025 total offline 38,674 kbd, -8% YoY, a roughly even planned/unplanned split (50% unplanned).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23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4059936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Unplanned offline is highly seasonal - Feb freeze and the autumn turnaround window, with a summer trough.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690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626864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Recurring back-to-back FCC turnarounds at the ExxonMobil plants (Baton Rouge, Baytown, Joliet) are visible in this data but washed out of month-level external trackers.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257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5193792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2027 is planned-only (15,923 kbd booked); the scenario adds ~21,790 kbd modeled unplanned -&gt; ~37,713 kbd implied total.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US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- levels, mix and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ann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222" y="1170432"/>
            <a:ext cx="4624915" cy="2084831"/>
          </a:xfrm>
          <a:prstGeom prst="rect">
            <a:avLst/>
          </a:prstGeom>
        </p:spPr>
      </p:pic>
      <p:pic>
        <p:nvPicPr>
          <p:cNvPr id="7" name="Picture 6" descr="padd_cluste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1968" y="1170432"/>
            <a:ext cx="3149744" cy="2084831"/>
          </a:xfrm>
          <a:prstGeom prst="rect">
            <a:avLst/>
          </a:prstGeom>
        </p:spPr>
      </p:pic>
      <p:pic>
        <p:nvPicPr>
          <p:cNvPr id="8" name="Picture 7" descr="padd_don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8510" y="3310128"/>
            <a:ext cx="1972339" cy="2084831"/>
          </a:xfrm>
          <a:prstGeom prst="rect">
            <a:avLst/>
          </a:prstGeom>
        </p:spPr>
      </p:pic>
      <p:pic>
        <p:nvPicPr>
          <p:cNvPr id="9" name="Picture 8" descr="yoy_mont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040" y="3310128"/>
            <a:ext cx="4939600" cy="20848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57200" y="5660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5596128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Offline peaked in 2020 (2020-21 outliers excluded from baselines); FY2025 ran ~50/50 planned/unplanned.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9527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888736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PADD 3 ~47% of unplanned; PADD 5 the most volatile (+181% in 2025 on California events).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Seasonality &amp; Monthly Change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Unplanned offline - range band, recent years and YoY% by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season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431" y="1234440"/>
            <a:ext cx="5048658" cy="2331720"/>
          </a:xfrm>
          <a:prstGeom prst="rect">
            <a:avLst/>
          </a:prstGeom>
        </p:spPr>
      </p:pic>
      <p:pic>
        <p:nvPicPr>
          <p:cNvPr id="7" name="Picture 6" descr="yoy_mon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483" y="3703320"/>
            <a:ext cx="5524554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Unplanned offline clusters in Feb (freeze) and the Sep-Oct turnaround window, with a clear summer trough.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The grey band is the 2022-25 monthly range; recent years ride near the top of the band in Q1.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2916936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YoY% by month (lower chart) shows where each year diverged - e.g. a heavier Feb in some years, lighter spring in others.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547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483864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This monthly shape - not a flat annual number - is what drives the 2027 scenario.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Range band = monthly min-max across 2022-2025. Partial years (2026/27) flagged.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3 - Planned &amp; Unplanned Offline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2026 plan + unplanned (bars) vs 2023-25 totals and 2027 plan (lines)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pad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06848"/>
            <a:ext cx="6766560" cy="38100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3 (Gulf Coast) is the single largest source of offline capacity and unplanned risk in the US.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Gold/orange bars = 2026 booked plan and unplanned; lines = prior-year totals; dashed green = 2027 plan.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2916936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Carries ~47% of US unplanned offline over the baseline window.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547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483864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Heavy Q1-Q2 activity, consistent with Gulf Coast spring turnaround timing.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050792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Magnitudes share one axis with the other PADDs - honest scale.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2 &amp; PADD 5 - Planned &amp; Unplanned Offline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The next two watch regions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pad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227" y="1234440"/>
            <a:ext cx="4141065" cy="2331720"/>
          </a:xfrm>
          <a:prstGeom prst="rect">
            <a:avLst/>
          </a:prstGeom>
        </p:spPr>
      </p:pic>
      <p:pic>
        <p:nvPicPr>
          <p:cNvPr id="7" name="Picture 6" descr="pad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227" y="3703320"/>
            <a:ext cx="4141065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2 (Midwest) ~25% of unplanned offline; swings with refinery turnaround cycles.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5 (West Coast) ~20%, but the most volatile - the 2025 California spike is clear in the red total 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5008" y="2916936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Joliet (PADD 2) shows the recurring Q1-Q2 FCC clustering covered next.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3429000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PADD 5 tightness leaves little slack when an unplanned event hits.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0050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3941064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 (dashed green) is the only forward-booked series.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Back-to-Back FCC Outages - ExxonMobil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Consecutive-month FCC runs external trackers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f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97159"/>
            <a:ext cx="6766560" cy="26294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This granular export captures repeated FCC (cat cracker) outages in adjacent months at the same Exxon plant.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Baton Rouge ran Jan-Jun 2022; Baytown Jan-Mar 2023; Joliet Feb-May 2025 and Feb-Jun 2026 - classic Q1-Q2 turnaround clustering.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2916936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Month-aggregated external data smooths these into one figure and loses the back-to-back signal.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547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483864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18 such Exxon FCC runs (&gt;=3 months) since 2011 - a recurring, model-able pattern.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050792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FCC offline is the most gasoline-relevant unit loss (0.65 mogas yield).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Back-to-back = consecutive calendar months of FCC outage at one plant within a year; 2020 excluded.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3 2026 Planned 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turnaround schedule - offline capacity, kbd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234440"/>
          <a:ext cx="10652760" cy="449884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/>
                <a:gridCol w="2468880"/>
                <a:gridCol w="731520"/>
                <a:gridCol w="777240"/>
                <a:gridCol w="731520"/>
                <a:gridCol w="868680"/>
                <a:gridCol w="86868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Refinery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PADD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Offline
(kbd)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of
PADD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Start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End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Unit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El Paso North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43.1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0.9%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1/2/26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1/25/26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Valero Refining Company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Meraux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33.5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0.7%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1/7/26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1/25/26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Hydrocracking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Phillips 66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Borger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23.1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0.5%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1/8/26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1/28/26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Hydrotreating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Phillips 66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Borger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34.0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0.7%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1/8/26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1/28/26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Hydrotreating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Phillips 66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Borger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49.6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1.0%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1/8/26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1/28/26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Hydrotreating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Galveston Bay Refinery (GBR)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90.5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1.8%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1/11/26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3/8/26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Fluid Cat Cracking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Valero Refining Company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Houston Refinery (Valero)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37.1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0.8%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1/13/26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3/3/26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Fluid Cat Cracking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Flint Hills Resources Llc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Corpus Christi Refinery - West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38.5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0.8%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1/14/26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2/23/26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Fluid Cat Cracking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Garyville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63.0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1.3%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1/15/26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2/20/26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Valero Refining Company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Texas City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25.2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0.5%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1/16/26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3/5/26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Vacuum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Valero Refining Company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Texas City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29.7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0.6%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1/16/26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3/5/26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Valero Refining Company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Texas City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39.2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0.8%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1/16/26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3/5/26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Vacuum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Flint Hills Resources Llc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Corpus Christi Refinery - West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36.2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0.7%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1/16/26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3/11/26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Valero Refining Company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Texas City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40.3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0.8%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1/16/26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3/5/26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Valero Refining Company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Bill Greehey Refinery-West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36.4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0.7%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1/19/26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2/8/26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One row per outage/unit. % of PADD = offline kbd / PADD total planned offline. Source: Snowflake export.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2 2026 Planned 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turnaround schedule - offline capacity, kbd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234440"/>
          <a:ext cx="10652760" cy="449884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/>
                <a:gridCol w="2468880"/>
                <a:gridCol w="731520"/>
                <a:gridCol w="777240"/>
                <a:gridCol w="731520"/>
                <a:gridCol w="868680"/>
                <a:gridCol w="86868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Refinery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PADD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Offline
(kbd)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of
PADD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Start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End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Unit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Catlettsburg Refining Llc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Catlettsburg Refinery 2 - Nort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33.3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0.7%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2/21/26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3/12/26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Fluid Cat Cracking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Phillips 66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Wood River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41.4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0.9%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2/21/26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5/8/26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Coking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Catlettsburg Refining Llc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Catlettsburg Refinery 2 - Nort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54.4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1.2%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2/21/26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3/12/26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Catlettsburg Refining Llc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Catlettsburg Refinery 2 - Nort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27.1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0.6%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2/24/26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3/12/26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Vacuum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Catlettsburg Refining Llc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Catlettsburg Refinery 2 - Nort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18.8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0.4%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2/25/26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3/12/26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Hydrotreating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Phillips 66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Wood River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71.1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1.5%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2/26/26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5/8/26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Phillips 66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Wood River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65.5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1.4%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2/27/26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4/24/26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Vacuum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Cenovus Energy Incorporated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Toledo Refinery (Cenovus)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28.2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0.6%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3/2/26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3/30/26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Joliet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19.5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0.4%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3/8/26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3/27/26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Coking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Joliet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53.2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1.1%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3/8/26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3/29/26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Citgo Petroleum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Lemont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37.4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0.8%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3/9/26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5/4/26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Citgo Petroleum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Lemont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36.2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0.8%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3/9/26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5/4/26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Fluid Cat Cracking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Robinson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55.0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1.2%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3/12/26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5/9/26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Hydrotreating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Robinson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55.0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1.2%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3/12/26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5/9/26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Hydrotreating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Robinson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24.6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0.5%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3/12/26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5/9/26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Hydrotreating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One row per outage/unit. % of PADD = offline kbd / PADD total planned offline. Source: Snowflake export.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5 2026 Planned 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turnaround schedule - offline capacity, kbd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234440"/>
          <a:ext cx="10652760" cy="449884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/>
                <a:gridCol w="2468880"/>
                <a:gridCol w="731520"/>
                <a:gridCol w="777240"/>
                <a:gridCol w="731520"/>
                <a:gridCol w="868680"/>
                <a:gridCol w="86868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Refinery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PADD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Offline
(kbd)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of
PADD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Start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End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Unit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Los Angeles Refinery - Carson 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13.0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0.7%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1/5/26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2/12/26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Reforming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Torrance Refining Company Llc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Torrance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13.9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0.8%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1/10/26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2/9/26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Coking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Chevron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Richmond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1.9%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1/10/26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2/9/26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Hydrotreating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Chevron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Richmond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2.6%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1/12/26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2/9/26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Hydrotreating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Torrance Refining Company Llc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Torrance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17.5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1.0%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1/14/26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2/22/26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Alkylation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Torrance Refining Company Llc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Torrance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13.4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0.8%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1/15/26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2/22/26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Hydrotreating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San Joaquin Refining Company I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Bakersfield Refinery (San Joaq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8.7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0.5%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2/2/26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2/11/26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Par Pacific Holdings Incorpora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Tacoma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12.5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0.7%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2/6/26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2/23/26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Vacuum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Par Pacific Holdings Incorpora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Tacoma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26.9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1.5%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2/6/26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2/23/26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Valero Refining Company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Benicia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0.9%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2/7/26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2/16/26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Vacuum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Valero Refining Company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Benicia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9.7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0.6%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2/7/26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2/16/26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Hydrotreating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Valero Refining Company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Benicia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8.8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0.5%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2/9/26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5/7/26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Hydrotreating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Hf Sinclair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Puget Sound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8.7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0.5%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2/15/26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4/1/26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Reforming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Hf Sinclair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Puget Sound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14.8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0.8%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2/15/26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4/1/26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Hf Sinclair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Puget Sound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0.7%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2/15/26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4/1/26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Coking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One row per outage/unit. % of PADD = offline kbd / PADD total planned offline. Source: Snowflake export.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Units &amp; Mogas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Where the offline capacity sits, and the gasoline read-through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  <p:pic>
        <p:nvPicPr>
          <p:cNvPr id="6" name="Picture 5" descr="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60" y="1170432"/>
            <a:ext cx="3890039" cy="2084831"/>
          </a:xfrm>
          <a:prstGeom prst="rect">
            <a:avLst/>
          </a:prstGeom>
        </p:spPr>
      </p:pic>
      <p:pic>
        <p:nvPicPr>
          <p:cNvPr id="7" name="Picture 6" descr="mog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1968" y="1170432"/>
            <a:ext cx="3149744" cy="2084831"/>
          </a:xfrm>
          <a:prstGeom prst="rect">
            <a:avLst/>
          </a:prstGeom>
        </p:spPr>
      </p:pic>
      <p:pic>
        <p:nvPicPr>
          <p:cNvPr id="8" name="Picture 7" descr="scenar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140" y="3310128"/>
            <a:ext cx="4615079" cy="2084831"/>
          </a:xfrm>
          <a:prstGeom prst="rect">
            <a:avLst/>
          </a:prstGeom>
        </p:spPr>
      </p:pic>
      <p:pic>
        <p:nvPicPr>
          <p:cNvPr id="9" name="Picture 8" descr="scenario_pa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9300" y="3310128"/>
            <a:ext cx="4615079" cy="208483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57200" y="5660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5596128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Crude trains (~45%), hydrotreating (~23%) and FCC (~11%) lead; FCC/reforming drive mogas exposure.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9527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888736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2027 scenario ~21,790 kbd unplanned (PADD 3 ~10,252, PADD 2 ~5,461, PADD 5 ~4,340).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Sensitivity &amp;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How the 2027 unplanned forecast flexes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54" y="1234440"/>
            <a:ext cx="5906611" cy="3840480"/>
          </a:xfrm>
          <a:prstGeom prst="rect">
            <a:avLst/>
          </a:prstGeom>
        </p:spPr>
      </p:pic>
      <p:pic>
        <p:nvPicPr>
          <p:cNvPr id="7" name="Picture 6" descr="torn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731676"/>
            <a:ext cx="5394960" cy="26631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32180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257800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Base case 21,790 kbd outlined; grid spans -10%..+15% growth x 0.7..1.5x rate -&gt; ~15,253-37,588 kbd.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6144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5550408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The unplanned-rate multiplier is the dominant driver (Unplanned rate multiplier); baseline-window choice is second.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Method &amp; 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Read before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3560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71600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Primary metric is CAP_OFFLINE_ADJUSTED_KBD (offline capacity, kbd, all units). Mogas is a secondary overlay (capacity x unit yield).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391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975104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Outage type is binary {PLANNED, UNPLANNED}; UNKNOWN folds into UNPLANNED per desk rule.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426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578608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2027 is planned-only - Plan+Unplanned / Unplanned comparisons vs 2027 are n/a; only Planned is comparable. Unplanned-2027 is a modeled scenario.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182112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2020-2021 (COVID / Winter Storm Uri) are excluded from forecast baselines by default.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4962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785616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Back-to-back = consecutive months of outage at one plant/unit; surfaces clustered FCC turnarounds external trackers miss.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5312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389120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Scenario = baseline(window) x (1+growth) x multiplier + one-off(stress month); the Excel workbook recomputes it live from dropdown inputs.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0566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992624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All numbers refresh from the source export - re-run the build to update workbook, deck and dashboard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