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74320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20040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 &amp;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Turnaround Outlook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98348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166360"/>
            <a:ext cx="676656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D6E0F0"/>
                </a:solidFill>
                <a:latin typeface="Arial"/>
              </a:rPr>
              <a:t>Capacity offline (kbd) - planned &amp; unplanned - 2027 scenario   |   46,456 rows, 2010-2038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vs 2026 &amp; 2025 - Planned Offline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US planned capacity offline (kbd); only planned is comparable vs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planned_x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49314"/>
            <a:ext cx="6766560" cy="31251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~15,923 kbd: +32% vs 2026 (~12,029) but -18% vs 2025 (~19,417) - a step up from a light 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Gulf Coast leads the build: PADD 3 planned +73% y/y; PADD 1 +109% and PADD 4 +88% off small bases.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is the only region lighter y/y (-14%); PADD 5 roughly flat (+14%).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Work concentrates in spring (Mar-May) and autumn (Sep-Oct) - the usual turnaround windows.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Only planned is comparable vs 2027 (no actual unplanned-2027 exists); the unplanned outlook is next.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Potential Unplanned - Forecast &amp;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Driver-based forecast built off the historical monthly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83506"/>
            <a:ext cx="6766560" cy="30567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Baseline scenario (2022-25 window, neutral dials): ~21,790 kbd unplanned on top of 15,923 planned -&gt; ~37,713 kbd implied total.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Historical range over the window: P25 ~21,001 / P50 ~22,106 / P90 ~23,373 kbd unplanned.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The unplanned-rate multiplier is the dominant swing; +/-30% moves the forecast by ~+/-6,537 kbd.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overlap), with a summer trough.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Fully tunable in the Excel Model sheet - window, growth, multiplier, one-off and stress month.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Back-to-Back-to-Back FCC Outages - ExxonMobil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Consecutive-month FCC (cat cracker) runs external trackers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f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97159"/>
            <a:ext cx="6766560" cy="26294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This granular book captures repeated FCC outages in adjacent months at the same Exxon plant - genuine back-to-back-to-back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Baton Rouge ran Jan-Jun 2022 (6 months); Joliet Feb-Jun 2026 (5); Baytown Jan-Mar 2023; Joliet Feb-May 2025.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Month-aggregated external trackers smooth these into one figure and lose the consecutive-run signal.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18 such Exxon FCC runs (&gt;=3 consecutive months) since 2011 - a recurring, model-able pattern.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FCC is the most gasoline-relevant unit loss (0.65 mogas yield) - octane/blending risk stacks.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Runs outlined are &gt;=3 consecutive calendar months of FCC outage at one plant; 2020 excluded.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- 2027 Outages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is planned-only; this is Exxon's booked turnaround slate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exxon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7440"/>
            <a:ext cx="6766560" cy="318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ExxonMobil has ~2,378 kbd of planned offline booked for 2027 across 4 refineries.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Joliet (PADD 2) dominates at ~1,319 kbd (~55%) - a major spring (Apr-May) turnaround including the FCC.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Beaumont ~382, Baytown ~375, Baton Rouge ~302 kbd round out the slate.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By unit: crude trains ~946 (atmos+vac), FCC ~562, hydrotreating ~474 kbd.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Calendar: heaviest in April with a second wave in Sep-Oct - watch the Joliet spring event.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1 - 2027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padd_p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0167"/>
            <a:ext cx="6766560" cy="3803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~389 kbd vs ~186 in 2026  (+109%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Warren - Atmos Distillation (~46 kbd, Mar)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Paulsboro (PBF) - Atmos Distillation (~31 kbd, Mar)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Warren - Hydrotreating (~16 kbd, Mar)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Warren (Atmos Distillation, Mar) is the largest single 2027 turnaround at ~46 kbd; the region's planned book is up y/y.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2 - 2027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padd_pl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2925"/>
            <a:ext cx="6766560" cy="37979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~3,995 kbd vs ~4,634 in 2026  (-14%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Joliet - Atmos Distillation (~190 kbd, Sep)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Joliet - Atmos Distillation (~161 kbd, Apr)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Lemont - Atmos Distillation (~115 kbd, Apr)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Joliet (Atmos Distillation, Sep) is the largest single 2027 turnaround at ~190 kbd; the region's planned book is down y/y.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3 - 2027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padd_pl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2925"/>
            <a:ext cx="6766560" cy="37979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~8,546 kbd vs ~4,929 in 2026  (+73%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Port Arthur (Motiva) - Atmos Distillation (~203 kbd, Sep)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Norco - Atmos Distillation (~197 kbd, Oct)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Port Arthur (Motiva) - Atmos Distillation (~147 kbd, Sep)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Port Arthur (Motiva) (Atmos Distillation, Sep) is the largest single 2027 turnaround at ~203 kbd; the region's planned book is up y/y.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4 - 2027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padd_pl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0167"/>
            <a:ext cx="6766560" cy="3803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~974 kbd vs ~517 in 2026  (+88%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Salt Lake City (Marathon) - Atmos Distillation (~49 kbd, Feb)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Billings (Phillips 66) - Atmos Distillation (~26 kbd, Apr)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Billings (Phillips 66) - Vacuum Distillation (~26 kbd, Apr)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Salt Lake City (Marathon) (Atmos Distillation, Feb) is the largest single 2027 turnaround at ~49 kbd; the region's planned book is up y/y.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5 - 2027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padd_pl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0167"/>
            <a:ext cx="6766560" cy="3803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~2,018 kbd vs ~1,764 in 2026  (+14%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Richmond - Atmos Distillation (~233 kbd, Oct)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Cherry Point - Atmos Distillation (~120 kbd, Mar)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Martinez (PBF) - Atmos Distillation (~90 kbd, Jan)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Richmond (Atmos Distillation, Oct) is the largest single 2027 turnaround at ~233 kbd; the region's planned book is up y/y.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Method &amp;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Read before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3560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71600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Primary metric is CAP_OFFLINE_ADJUSTED_KBD (offline capacity, kbd, all units). Mogas is a secondary overlay (capacity x unit yield).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91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75104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Outage type is binary {PLANNED, UNPLANNED}; UNKNOWN folds into UNPLANNED per desk rule.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426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578608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2027 is planned-only - Plan+Unplanned / Unplanned comparisons vs 2027 are n/a; only Planned is comparable. Unplanned-2027 is a modeled scenario.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182112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2020-2021 (COVID / Winter Storm Uri) are excluded from forecast baselines by default.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4962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785616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Back-to-back = consecutive months of outage at one plant/unit; surfaces clustered FCC turnarounds external trackers miss.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5312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389120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Scenario = baseline(window) x (1+growth) x multiplier + one-off(stress month); the Excel workbook recomputes it live from dropdown inputs.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566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992624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All numbers refresh from the source export - re-run the build to update workbook, deck and dashboard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