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74320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20040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 &amp;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98348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166360"/>
            <a:ext cx="676656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46,464 rows, 2010-2038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vs 2026 &amp; 2025 - 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US planned capacity offline (kbd); 2027 book complete through H1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planned_x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92897"/>
            <a:ext cx="6766560" cy="3237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H1 is the clean read: 2027 H1 planned ~9,211 kbd vs 2026 H1 ~8,162 (+13%) - a real, like-for-like step 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Full-year looks larger (+32% vs 2026) only because 2026 H2 is light/incomplete; don't over-read it - 2027 H2 is still being scheduled.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leads the build: PADD 3 planned +73% y/y; PADD 2 is the only region lighter (-14%).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Work concentrates in spring (Mar-May) and autumn (Sep-Oct) - the usual turnaround windows.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Only planned is comparable vs 2027 (no actual unplanned-2027 exists); the unplanned outlook is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planned data is incomplete past H1 - compare H1-vs-H1; the full-year bar fills in as operators book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Potential Unplanned - Scenario 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Conservative / Average / Active paths off the 2022-25 seasonal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49314"/>
            <a:ext cx="6766560" cy="31251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case ~21,788 kbd unplanned; Conservative ~17,431 (calm year, x0.8), Active ~28,325 (heavy year, x1.3).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 top of 15,923 kbd booked planned, that's an implied total of ~33,354 / ~37,711 / ~44,248 kbd.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Active vs Conservative spans ~10,894 kbd (+62%) - the unplanned risk range to hedge.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overlap), with a summer trough.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Fully tunable in the Excel Scenario Analysis sheet - window, growth, multiplier, one-off and stress 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(cat cracker)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297159"/>
            <a:ext cx="6766560" cy="26294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book captures repeated FCC outages in adjacent months at the same Exxon plant - genuine back-to-back-to-back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 (6 months); Joliet Feb-Jun 2026 (5); Baytown Jan-Mar 2023; Joliet Feb-May 2025.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trackers smooth these into one figure and lose the consecutive-run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consecutive months) since 2011 - a recurring, model-able pattern.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is the most gasoline-relevant unit loss (0.65 mogas yield) - octane/blending risk stacks.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Runs outlined are &gt;=3 consecutive calendar months of FCC outage at one plant; 2020 excluded.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- 2027 Outages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is planned-only; this is Exxon's booked turnaround 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exxon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7440"/>
            <a:ext cx="6766560" cy="318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 has ~2,378 kbd of planned offline booked for 2027 across 4 refineries.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Joliet (PADD 2) dominates at ~1,319 kbd (~55%) - a major spring (Apr-May) turnaround including the FCC.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53528" y="2916936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Beaumont ~382, Baytown ~375, Baton Rouge ~302 kbd round out the slate.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53528" y="3483864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unit: crude trains ~946 (atmos+vac), FCC ~562, hydrotreating ~474 kbd.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53528" y="4050792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Calendar: heaviest in April with a second wave in Sep-Oct - watch the Joliet spring event.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1 - 2027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padd_pl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~389 kbd vs ~186 in 2026  (+109%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Atmos Distillation (~46 kbd, Mar)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Paulsboro (PBF) - Atmos Distillation (~31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Warren - Hydrotreating (~16 kbd, Mar)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Warren (Atmos Distillation, Mar) is the largest single 2027 turnaround at ~46 kbd; the region's planned book is up y/y.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2 - 2027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padd_pl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~3,995 kbd vs ~4,634 in 2026  (-14%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(~190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Joliet - Atmos Distillation (~161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Lemont - Atmos Distillation (~115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Joliet (Atmos Distillation, Sep) is the largest single 2027 turnaround at ~190 kbd; the region's planned book is down y/y.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3 - 2027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pic>
        <p:nvPicPr>
          <p:cNvPr id="6" name="Picture 5" descr="padd_pl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2925"/>
            <a:ext cx="6766560" cy="37979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~8,546 kbd vs ~4,929 in 2026  (+73%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(~203 kbd, Sep)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Norco - Atmos Distillation (~197 kbd, Oct)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Port Arthur (Motiva) - Atmos Distillation (~147 kbd, Sep)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Port Arthur (Motiva) (Atmos Distillation, Sep) is the largest single 2027 turnaround at ~203 kbd; the region's planned book is up y/y.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4 - 2027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8</a:t>
            </a:r>
          </a:p>
        </p:txBody>
      </p:sp>
      <p:pic>
        <p:nvPicPr>
          <p:cNvPr id="6" name="Picture 5" descr="padd_pl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~974 kbd vs ~517 in 2026  (+88%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Salt Lake City (Marathon) - Atmos Distillation (~49 kbd, Feb)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Atmos Distillation (~26 kbd, Apr)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Billings (Phillips 66) - Vacuum Distillation (~26 kbd, Apr)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Salt Lake City (Marathon) (Atmos Distillation, Feb) is the largest single 2027 turnaround at ~49 kbd; the region's planned book is up y/y.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PADD 5 - 2027 Planned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offline 2027 vs 2026, and the main turnarounds for next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9</a:t>
            </a:r>
          </a:p>
        </p:txBody>
      </p:sp>
      <p:pic>
        <p:nvPicPr>
          <p:cNvPr id="6" name="Picture 5" descr="padd_pl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10167"/>
            <a:ext cx="6766560" cy="3803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53528" y="1783080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planned offline ~2,018 kbd vs ~1,764 in 2026  (+14% y/y).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8" y="235000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Main 2027 turnarounds (largest by offline kbd):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980944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916936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Richmond - Atmos Distillation (~233 kbd, Oct)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3493008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429000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Cherry Point - Atmos Distillation (~120 kbd, Mar)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005072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8" y="3941064"/>
            <a:ext cx="382219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262B33"/>
                </a:solidFill>
                <a:latin typeface="Arial"/>
              </a:rPr>
              <a:t>Martinez (PBF) - Atmos Distillation (~90 kbd, Jan)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51713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4453128"/>
            <a:ext cx="423367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Highlight: Richmond (Atmos Distillation, Oct) is the largest single 2027 turnaround at ~233 kbd; the region's planned book is up y/y.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Method &amp; 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Read before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3560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7160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Primary metric is CAP_OFFLINE_ADJUSTED_KBD (offline capacity, kbd, all units). Mogas is a secondary overlay (capacity x unit yield).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911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7510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Outage type is binary {PLANNED, UNPLANNED}; UNKNOWN folds into UNPLANNED per desk rule.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426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78608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2027 is planned-only - Plan+Unplanned / Unplanned comparisons vs 2027 are n/a; only Planned is comparable. Unplanned-2027 is a modeled scenario.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182112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2020-2021 (COVID / Winter Storm Uri) are excluded from forecast baselines by default.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4962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785616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Back-to-back = consecutive months of outage at one plant/unit; surfaces clustered FCC turnarounds external trackers miss.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5312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389120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Scenario = baseline(window) x (1+growth) x multiplier + one-off(stress month); the Excel workbook recomputes it live from dropdown inputs.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0566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992624"/>
            <a:ext cx="11045952" cy="6400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62B33"/>
                </a:solidFill>
                <a:latin typeface="Arial"/>
              </a:rPr>
              <a:t>All numbers refresh from the source export - re-run the build to update workbook, deck and dashboard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