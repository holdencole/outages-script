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89520" y="0"/>
            <a:ext cx="4602175" cy="6858000"/>
          </a:xfrm>
          <a:prstGeom prst="rect">
            <a:avLst/>
          </a:prstGeom>
          <a:solidFill>
            <a:srgbClr val="24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D6E0F0"/>
                </a:solidFill>
                <a:latin typeface="Arial"/>
              </a:rPr>
              <a:t>June 26th,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950976"/>
            <a:ext cx="6035040" cy="15240"/>
          </a:xfrm>
          <a:prstGeom prst="rect">
            <a:avLst/>
          </a:prstGeom>
          <a:solidFill>
            <a:srgbClr val="4A6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0" y="411480"/>
            <a:ext cx="3474720" cy="45720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Products Trading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51760"/>
            <a:ext cx="694944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 i="0">
                <a:solidFill>
                  <a:srgbClr val="D6E0F0"/>
                </a:solidFill>
                <a:latin typeface="Arial"/>
              </a:rPr>
              <a:t>Products Trading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3108960"/>
            <a:ext cx="7315200" cy="15544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Refinery Outages</a:t>
            </a:r>
          </a:p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2027 Outlook by Unit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892040"/>
            <a:ext cx="2560320" cy="3175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5074920"/>
            <a:ext cx="7223760" cy="8229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D6E0F0"/>
                </a:solidFill>
                <a:latin typeface="Arial"/>
              </a:rPr>
              <a:t>Capacity offline by unit, region &amp; operator -- the gasoline and distillate read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B6DB"/>
                </a:solidFill>
                <a:latin typeface="Arial"/>
              </a:rPr>
              <a:t>2027: ExxonMobil full-year (verified vs their plan); all other operators H1-confirmed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00800"/>
            <a:ext cx="16916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D6E0F0"/>
                </a:solidFill>
                <a:latin typeface="Arial"/>
              </a:rPr>
              <a:t>PROPRIETARY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Total 2027 Outages by Unit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Capacity offline by unit &amp; month; solid = confirmed, hatched = non-Exxon H2 (not yet booked)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1</a:t>
            </a:r>
          </a:p>
        </p:txBody>
      </p:sp>
      <p:pic>
        <p:nvPicPr>
          <p:cNvPr id="6" name="Picture 5" descr="splits_2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2773" y="1188720"/>
            <a:ext cx="7955973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offline (a unit down part of a month counts only its days down), each unit once per month. Non-Exxon H2 2027 is a floor that fills 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What's Driving the Numbers: the Biggest Outages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Each bar is one unit's nameplate offline (kbd) in 2027, colored by PADD (region)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pic>
        <p:nvPicPr>
          <p:cNvPr id="6" name="Picture 5" descr="biggest_ou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3967" y="1188720"/>
            <a:ext cx="6653586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Per-unit nameplate offline, the 12 biggest focus-unit outages of 2027. Color = PADD region; hatched = non-Exxon H2 (indicative).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Month-over-Month: What Changed and What's Driving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Change in capacity offline, Jul 2026 vs Jun 2026, by region (left) and focus unit (right)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  <p:pic>
        <p:nvPicPr>
          <p:cNvPr id="6" name="Picture 5" descr="mom_mov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31819"/>
            <a:ext cx="11247120" cy="408580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offline less month-on-month: ~1,075 kbd in Jul 2026 vs ~1,350 in Jun 2026 (-275 kbd). Biggest swing by region P3, by unit FCC. Green = more offline this month, red = less. Read each unit on its own.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H1 Planned Outages per Unit &amp; Month: 2025 / 2026 / 2027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Like-for-like Jan-Jun planned offline, by unit and month (2027 confirmed through H1)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h1_month_by_u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6747" y="1188720"/>
            <a:ext cx="8068025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capacity offline by month, planned only, each unit once per month. Per-panel y-axis. 2025/26 actuals; 2027 the booked plan.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Gasoline Complex: Crude (CDU) + Cat Cracker (FCC) by PADD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2027 crude (CDU, left) and cat-cracker (FCC, right) offline by region &amp; month -- the gasoline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5</a:t>
            </a:r>
          </a:p>
        </p:txBody>
      </p:sp>
      <p:pic>
        <p:nvPicPr>
          <p:cNvPr id="6" name="Picture 5" descr="cdu_padd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87757"/>
            <a:ext cx="5632704" cy="3065365"/>
          </a:xfrm>
          <a:prstGeom prst="rect">
            <a:avLst/>
          </a:prstGeom>
        </p:spPr>
      </p:pic>
      <p:pic>
        <p:nvPicPr>
          <p:cNvPr id="7" name="Picture 6" descr="fcc_padd_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1985654"/>
            <a:ext cx="5632704" cy="30695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concurrent offline by month, stacked by PADD. The FCC makes cat gasoline; a CDU outage cuts the whole barrel, gasoline included. P3 (Gulf) is the swing region; P2 (Midwest) carries the spring crude; P5 (West) is islanded. Past the dotted line = non-Exxon H2 (a floor that grows as operators book).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Distillate Complex: Crude (CDU) + Hydrocracker by PADD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2027 crude (CDU, left) and hydrocracker (right) offline by region &amp; month -- the diesel/jet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pic>
        <p:nvPicPr>
          <p:cNvPr id="6" name="Picture 5" descr="cdu_padd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87757"/>
            <a:ext cx="5632704" cy="3065365"/>
          </a:xfrm>
          <a:prstGeom prst="rect">
            <a:avLst/>
          </a:prstGeom>
        </p:spPr>
      </p:pic>
      <p:pic>
        <p:nvPicPr>
          <p:cNvPr id="7" name="Picture 6" descr="hcu_padd_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1985654"/>
            <a:ext cx="5632704" cy="30695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concurrent offline by month, stacked by PADD. The hydrocracker makes diesel and jet; the same CDU outage that cuts gasoline cuts distillate too (the whole barrel is down). P3 (Gulf) and P2 (Midwest) carry the hydrocracker work. Past the dotted line = non-Exxon H2 (indicative).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Unplanned Offline: 2024-2026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What unplanned actually looked like in recent years, to ground the 2027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7</a:t>
            </a:r>
          </a:p>
        </p:txBody>
      </p:sp>
      <p:pic>
        <p:nvPicPr>
          <p:cNvPr id="6" name="Picture 5" descr="unplanned_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1891" y="1188720"/>
            <a:ext cx="9537738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Actual unplanned capacity offline by month, day-weighted. 2026 reported through June.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2027 Unplanned Scenario: the Risk on Top of Planned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Potential unplanned offline (kbd per month) modeled on the 2023-26 seasonal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8</a:t>
            </a:r>
          </a:p>
        </p:txBody>
      </p:sp>
      <p:pic>
        <p:nvPicPr>
          <p:cNvPr id="6" name="Picture 5" descr="f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504" y="1188720"/>
            <a:ext cx="9888511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Scenario = mean 2023-26 monthly unplanned shape (completeness-aware) x {0.8 / 1.0 / 1.3}. Monthly concurrent offline, a risk range, not a forecast. Not an annual sum.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What It Means for the Market: Gasoline &amp; Distillate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Spring crude turnarounds tighten both pools -- summer gasoline and a thin distillate cushion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9</a:t>
            </a:r>
          </a:p>
        </p:txBody>
      </p:sp>
      <p:pic>
        <p:nvPicPr>
          <p:cNvPr id="6" name="Picture 5" descr="market_set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3749" y="1188720"/>
            <a:ext cx="9174021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Gasoline-complex (CDU + FCC + reformer) offline by month vs the summer-grade switchover. U.S. stocks below the 5-yr average on both sides: gasoline -5%, distillate -10%, crude -7% (EIA WPSR, week ending Jun 19, 2026). Spring CDU turnarounds cut crude -- so gasoline and distillate both -- with the FCC tightening summer gasoline and the hydrocracker tightening diesel/jet.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