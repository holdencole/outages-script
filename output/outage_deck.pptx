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589520" y="0"/>
            <a:ext cx="4602175" cy="6858000"/>
          </a:xfrm>
          <a:prstGeom prst="rect">
            <a:avLst/>
          </a:prstGeom>
          <a:solidFill>
            <a:srgbClr val="2440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90956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32104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73252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55548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37844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78992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20140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61288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90956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32104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73252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55548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6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37844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78992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20140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61288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90956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32104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73252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14400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55548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96696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37844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78992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120140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61288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90956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32104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73252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14400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955548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96696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037844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78992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120140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161288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790956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32104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73252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14400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55548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96696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1037844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078992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120140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161288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790956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832104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873252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914400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955548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996696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037844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078992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120140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161288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790956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832104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873252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914400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955548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996696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1037844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1078992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1120140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1161288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90956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832104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873252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914400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955548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996696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1037844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078992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1120140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1161288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790956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832104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873252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914400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955548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996696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1037844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1078992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1120140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1161288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790956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832104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873252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914400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955548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996696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1037844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1078992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1120140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1161288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790956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832104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873252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914400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955548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996696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037844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1078992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1120140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1161288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790956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832104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873252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914400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955548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996696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1037844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1078992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1120140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1161288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790956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832104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873252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914400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955548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996696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1037844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1078992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1120140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1161288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790956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832104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873252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914400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955548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996696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1037844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1078992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1120140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1161288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640080" y="457200"/>
            <a:ext cx="5486400" cy="36576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D6E0F0"/>
                </a:solidFill>
                <a:latin typeface="Arial"/>
              </a:rPr>
              <a:t>June 15th, 2026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658368" y="950976"/>
            <a:ext cx="6035040" cy="15240"/>
          </a:xfrm>
          <a:prstGeom prst="rect">
            <a:avLst/>
          </a:prstGeom>
          <a:solidFill>
            <a:srgbClr val="4A66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8229600" y="411480"/>
            <a:ext cx="3474720" cy="45720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1800" b="1" i="0">
                <a:solidFill>
                  <a:srgbClr val="FFFFFF"/>
                </a:solidFill>
                <a:latin typeface="Arial"/>
              </a:rPr>
              <a:t>Products Trading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40080" y="2651760"/>
            <a:ext cx="6949440" cy="36576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0" i="0">
                <a:solidFill>
                  <a:srgbClr val="D6E0F0"/>
                </a:solidFill>
                <a:latin typeface="Arial"/>
              </a:rPr>
              <a:t>Products Trading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621792" y="3108960"/>
            <a:ext cx="7315200" cy="15544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Refinery Outages</a:t>
            </a:r>
          </a:p>
          <a:p>
            <a:pPr algn="l">
              <a:spcAft>
                <a:spcPts val="2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2027 Outlook by Unit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658368" y="4892040"/>
            <a:ext cx="2560320" cy="3175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58368" y="5074920"/>
            <a:ext cx="7223760" cy="82296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D6E0F0"/>
                </a:solidFill>
                <a:latin typeface="Arial"/>
              </a:rPr>
              <a:t>Capacity offline by unit, region &amp; operator - and what it tightens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9DB6DB"/>
                </a:solidFill>
                <a:latin typeface="Arial"/>
              </a:rPr>
              <a:t>2027: ExxonMobil full-year (verified vs their plan); all other operators H1-confirmed only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332720" y="6400800"/>
            <a:ext cx="16916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D6E0F0"/>
                </a:solidFill>
                <a:latin typeface="Arial"/>
              </a:rPr>
              <a:t>PROPRIETARY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Total 2027 Outages by Unit - and What They Tighten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Capacity offline by unit &amp; month; solid = confirmed, hatched = non-Exxon H2 (not yet booked)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1</a:t>
            </a:r>
          </a:p>
        </p:txBody>
      </p:sp>
      <p:pic>
        <p:nvPicPr>
          <p:cNvPr id="6" name="Picture 5" descr="splits_20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73532"/>
            <a:ext cx="8138160" cy="46766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0" y="1371600"/>
            <a:ext cx="3291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87968" y="1783080"/>
            <a:ext cx="3090672" cy="104241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Crude (CDU) down = the whole refinery's run is cut - every product from that site. FCC down = gasoline + octane. Reformer = octane. Hydrocracker = diesel / jet.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0" y="2663952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87968" y="2599944"/>
            <a:ext cx="3090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Confirmed 2027 peak: CDU ~1,607, FCC ~654, hydrocracker ~286, reformer ~277 kbd - all in H1.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331317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87968" y="3249168"/>
            <a:ext cx="3090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Read units separately, never added: a 250-kbd CDU plus a 100-kbd FCC is not '350 offline'.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0" y="3962400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87968" y="3898392"/>
            <a:ext cx="3090672" cy="104241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Solid = confirmed (Exxon full-year + everyone's H1). Hatched = non-Exxon H2, still being booked - don't trade the autumn spike as real.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Concurrent capacity offline, each unit counted once per month. Non-Exxon H2 2027 is a floor that fills in. Verified-bad Exxon records excluded.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Outages by PADD by Unit - Where It Tightens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2027 crude (CDU, top) and cat-cracker (FCC, bottom) offline by region &amp; month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2</a:t>
            </a:r>
          </a:p>
        </p:txBody>
      </p:sp>
      <p:pic>
        <p:nvPicPr>
          <p:cNvPr id="6" name="Picture 5" descr="cdu_padd_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2456" y="1234440"/>
            <a:ext cx="4284608" cy="2331720"/>
          </a:xfrm>
          <a:prstGeom prst="rect">
            <a:avLst/>
          </a:prstGeom>
        </p:spPr>
      </p:pic>
      <p:pic>
        <p:nvPicPr>
          <p:cNvPr id="7" name="Picture 6" descr="fcc_padd_2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5392" y="3703320"/>
            <a:ext cx="4278735" cy="23317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52360" y="1371600"/>
            <a:ext cx="4434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53528" y="1783080"/>
            <a:ext cx="4233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PADD 3 (Gulf) is the swing region - most crude and FCC work lands there, tightening USGC supply and the export barrel.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52360" y="2542032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53528" y="2478024"/>
            <a:ext cx="4233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PADD 2 (Midwest) carries the spring crude (the Joliet event). PADD 5 (West) is islanded - a California outage doesn't get bailed out by other regions.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323697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53528" y="3172968"/>
            <a:ext cx="4233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Timing: spring (Mar-May) and autumn (Sep-Oct) are the windows; summer is protected for driving-season gasoline.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52360" y="3931920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53528" y="3867912"/>
            <a:ext cx="4233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Past the dotted line (H2) is non-Exxon-unconfirmed - those autumn bars are a floor and grow as operators book.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Concurrent capacity offline by month, stacked by PADD. P1 NE, P2 Midwest, P3 Gulf, P4 Rockies, P5 West.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ExxonMobil 2027 - Per Unit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Each unit's turnaround as its own bar, nameplate capacity offline (kbd)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3</a:t>
            </a:r>
          </a:p>
        </p:txBody>
      </p:sp>
      <p:pic>
        <p:nvPicPr>
          <p:cNvPr id="6" name="Picture 5" descr="exxon_gant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27060"/>
            <a:ext cx="8138160" cy="3569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0" y="1371600"/>
            <a:ext cx="3291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87968" y="1783080"/>
            <a:ext cx="3090672" cy="104241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ExxonMobil is the only operator with a full-year 2027 plan - so it's the one refiner whose H2 we can confirm. Everyone else is H1-only.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0" y="2663952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87968" y="2599944"/>
            <a:ext cx="3090672" cy="104241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Per unit, never summed - the 'Exxon ~700 kbd' figure was 8 Joliet units in one April turnaround added together; it's really ~250 kbd of crude.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348081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87968" y="3416808"/>
            <a:ext cx="3090672" cy="104241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Reconciled to Exxon's own corporate plan (7 units): Baytown &amp; Beaumont FCC in Q1, Joliet crude Apr-May, Baton Rouge crude in autumn.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Cross-checked against ExxonMobil's corporate turnaround plan; match = same refinery + unit class, overlapping months.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2027 Unplanned Scenario - the Risk on Top of Planned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Potential unplanned offline (kbd) modeled off the 2022-25 seasonal pattern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4</a:t>
            </a:r>
          </a:p>
        </p:txBody>
      </p:sp>
      <p:pic>
        <p:nvPicPr>
          <p:cNvPr id="6" name="Picture 5" descr="f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3190" y="1234440"/>
            <a:ext cx="5043140" cy="2331720"/>
          </a:xfrm>
          <a:prstGeom prst="rect">
            <a:avLst/>
          </a:prstGeom>
        </p:spPr>
      </p:pic>
      <p:pic>
        <p:nvPicPr>
          <p:cNvPr id="7" name="Picture 6" descr="scenario_tot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7935" y="3703320"/>
            <a:ext cx="6553650" cy="23317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52360" y="1371600"/>
            <a:ext cx="4434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53528" y="1783080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2027 has no actual unplanned yet - this is the risk range to carry on top of the booked planned slate.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52360" y="241401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53528" y="2350008"/>
            <a:ext cx="4233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Average ~13,296 kbd unplanned; Conservative ~10,637 (calm year), Active ~17,285 (heavy). Booked planned is ~15,691 kbd.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3108960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53528" y="3044952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Implied total ~26,328 / ~28,987 / ~32,976 kbd (Conservative / Average / Active).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52360" y="36758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53528" y="3611880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Risk peaks in Feb (winter freeze) and Sep-Oct (turnaround overlap); summer is the trough.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52360" y="424281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53528" y="4178808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Trade it: Active = stress case for supply tightness; Conservative = the floor.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Scenario = mean 2022-25 monthly unplanned shape x {0.8 / 1.0 / 1.3}. A risk range, not a forecast; fully tunable in the Excel Scenario tab.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