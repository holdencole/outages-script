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 -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 - and What They Tighten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75566"/>
            <a:ext cx="8138160" cy="46726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(CDU) down = the whole refinery's run is cut - every product from that site. FCC down = gasoline + octane. Reformer = octane. Hydrocracker = diesel / jet.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2027 peak: CDU ~1,960, FCC ~654, hydrocracker ~286, reformer ~277 kbd - all in H1.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units separately, never added: a 250-kbd CDU plus a 100-kbd FCC is not '350 offline'.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Solid = confirmed (Exxon full-year + everyone's H1). Hatched = non-Exxon H2, still being booked - don't trade the autumn spike as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offline, each unit counted once per month. Non-Exxon H2 2027 is a floor that fills in. Verified-bad Exxon records excluded.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 - Where It Tightens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top) and cat-cracker (FCC, bottom)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754" y="1234440"/>
            <a:ext cx="4290011" cy="2331720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694" y="3703320"/>
            <a:ext cx="428413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3 (Gulf) is the swing region - most crude and FCC work lands there, tightening USGC supply and the export barrel.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2 (Midwest) carries the spring crude (the Joliet event). PADD 5 (West) is islanded - a California outage doesn't get bailed out by other regions.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Timing: spring (Mar-May) and autumn (Sep-Oct) are the windows; summer is protected for driving-season gasoline.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9319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86791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Past the dotted line (H2) is non-Exxon-unconfirmed - those autumn bars are a floor and grow as operators 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2027 - Per Unit, Verified vs Their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unit's turnaround as its own bar, reconciled to Exxon's corporate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exxon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5735"/>
            <a:ext cx="8138160" cy="39722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ExxonMobil is the only operator with a full-year 2027 plan - so it's the one refiner whose H2 we can confirm. Everyone else is H1-only.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Per unit, never summed - the 'Exxon ~700 kbd' figure was 8 Joliet units in one April turnaround added together; it's really ~250 kbd of crude.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vs Exxon's own plan (8 units): Baytown &amp; Beaumont FCC in Q1, Joliet crude+vacuum Apr-May, Baton Rouge crude in autumn.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Reconciled to ExxonMobil's corporate turnaround plan (data/exxon_ta_plan.csv). Match = same refinery + unit class, overlapping months.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 -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(kbd) modeled off the 2022-25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431" y="1234440"/>
            <a:ext cx="5048658" cy="2331720"/>
          </a:xfrm>
          <a:prstGeom prst="rect">
            <a:avLst/>
          </a:prstGeom>
        </p:spPr>
      </p:pic>
      <p:pic>
        <p:nvPicPr>
          <p:cNvPr id="7" name="Picture 6" descr="scenario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9" y="3703320"/>
            <a:ext cx="656336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has no actual unplanned yet - this is the risk range to carry on top of the booked planned slate.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~13,296 kbd unplanned; Conservative ~10,637 (calm year), Active ~17,285 (heavy). Booked planned is ~15,691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Implied total ~26,328 / ~28,987 / ~32,976 kbd (Conservative / Average / Active).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overlap); summer is the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Trade it: Active = stress case for supply tightness; Conservative = the floor.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2022-25 monthly unplanned shape x {0.8 / 1.0 / 1.3}. A risk range, not a forecast; fully tunable in the Excel Scenario tab.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