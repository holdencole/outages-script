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Refinery Outage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D6E0F0"/>
                </a:solidFill>
                <a:latin typeface="Arial"/>
              </a:rPr>
              <a:t>Capacity Offline (kbd) - Planned &amp; Unplanned - 2027 Scenario &amp;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11480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Data vintage:  46,456 rows  |  2010-2038  |  19,934 distinct outages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Latest full year (2025):  38,674 kbd total offline, 19,258 kbd unplanned (50%)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F0C0C0"/>
                </a:solidFill>
                <a:latin typeface="Arial"/>
              </a:rPr>
              <a:t>2026 &amp; 2027 are partial / planned-only - shown for context, not as finals.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At-a-glance metrics and what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Total Offline (FY2025)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38,674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kbd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21803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21803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Unplanned (FY2025)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21803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21803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19,258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1803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kbd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32126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2126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Unplanned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32126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2126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2126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of 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449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2449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Distinct Outages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42449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42449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1,213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449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FY2025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52772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2772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Top PADD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2772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52772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PADD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2772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by unplanned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Takeaways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209544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154680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PADD 5 dominates unplanned risk at ~20% of US unplanned capacity offline over the baseline window; PADD 2 and PADD 5 are the next largest.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59352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904488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FY2025 total offline of 38,674 kbd was -8% YoY, with the planned/unplanned split near 50/50 (50% unplanned).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709160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54296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Unplanned capacity offline is highly seasonal - peaks in February (winter freeze) and September-October (turnaround), with a summer trough.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458968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404104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2027 is planned-only in the data (15,923 kbd booked). The scenario model adds a baseline-driven unplanned forecast of ~21,790 kbd -&gt; implied total ~37,713 kbd.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Annual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Capacity offline by year, planned + unplanned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7040880" cy="31739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18872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8976" y="1691640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Offline capacity peaked in 2020; 2020-21 (COVID / Winter Storm Uri) are outliers, excluded from forecast baselines.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8716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441448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FY2025 ran 38,674 kbd total, ~50/50 planned vs unplanned (50% unplanned).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36976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08976" y="3191256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Total offline has eased -8% YoY into 2025 off the 2022-23 highs.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986784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8976" y="3941064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2027 shows planned capacity only (booked turnarounds) - unplanned is modeled.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Unplanned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Where the unplanned risk concentrates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dd_clus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7040880" cy="46603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18872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8976" y="1691640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PADD 3 (Gulf Coast) carries ~47% of US unplanned capacity offline.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8716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441448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PADD 2 (Midwest) is next at ~25%; PADD 5 ~20%.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36976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08976" y="3191256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PADD 5 swung +181% in 2025 on California events; PADD 1 +101%.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986784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8976" y="3941064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PADD 3 and PADD 5 dominate both the level and the volatility of unplanned risk.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Seasonality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Unplanned offline by calendar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7040880" cy="3180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18872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8976" y="1691640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Unplanned outages cluster in late winter (Feb freeze events) and the autumn turnaround window.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8716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441448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A clear summer trough (Jun-Aug) as units run through driving season.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36976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08976" y="3191256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This recurring shape is the backbone of the 2027 scenario baseline.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986784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8976" y="3941064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2025 (red) sits above 2023-24 in Q1 - a heavier freeze season.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PADD 3 - Reference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2026 plan + unplanned vs 2023-2025 totals and 2027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7040880" cy="39645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18872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8976" y="1691640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Gold/orange columns = 2026 booked plan and unplanned, stacked.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8716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441448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Lines = prior-year total offline (2025 red, 2024 blue, 2023 gray).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36976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08976" y="3191256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Dashed green = 2027 booked plan, the only forward series.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986784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8976" y="3941064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One shared axis keeps magnitudes honest across years.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PADD 1, 2, 4 &amp;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Same combo view across the remaining PADDs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dd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758" y="1051560"/>
            <a:ext cx="5708004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8172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12064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7492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PADD 1 is genuinely small (~5% of unplanned) - a thin bar set.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62356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PADD 2 (Midwest) carries real weight and swings with refinery turnarounds.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21792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617220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PADD 5 shows the 2025 California spike clearly in the red total 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512064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507492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PADD 4 (Rockies) is the smallest and steadiest region.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566928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562356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2027 plan (dashed green) is the only forward-booked series everywhere.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Back-to-Back FCC Outages - ExxonMobil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Consecutive-month FCC runs that month-level external trackers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040" y="1051560"/>
            <a:ext cx="905944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8172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12064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7492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This granular export captures repeated FCC (cat cracker) outages in adjacent months at the same Exxon plant.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62356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Baton Rouge ran Jan-Jun 2022; Baytown Jan-Mar 2023; Joliet Feb-May 2025 and Feb-Jun 2026 - classic Q1-Q2 turnaround clustering.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21792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617220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Aggregated/external data smooths these into a single monthly figure and loses the back-to-back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512064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507492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18 such Exxon FCC runs (&gt;=3 months) since 2011 - a recurring, model-able pattern, not noise.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566928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562356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FCC offline is the most gasoline-relevant unit loss (0.65 mogas yield).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Unit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Capacity offline by unit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7040880" cy="3773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18872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8976" y="1691640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Crude trains (atmospheric + vacuum distillation) are ~45% of 2025 offline capacity.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8716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441448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Hydrotreating ~23% and FCC ~11% follow - FCC and reforming drive gasoline exposure.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36976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08976" y="3191256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Unit mix matters: the same kbd offline means more mogas loss if it is FCC or reforming than if it is hydrotreating.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986784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8976" y="3941064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Workbook adds per-unit share and YoY% columns for the full 17 categories.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2027 Unplanned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Driver-based forecast vs planned and recent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7040880" cy="3180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18872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8976" y="1691640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Default (window 2022-2025, 0% growth, 1.0x): ~21,790 kbd unplanned.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8716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441448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On top of 15,923 kbd booked plan -&gt; ~37,713 kbd implied total offline.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36976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08976" y="3191256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Built from the historical monthly unplanned shape, not a flat annual number.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986784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8976" y="3941064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Every input (window, growth, multiplier, one-off, stress month) is live in the Excel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2027 Scenario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Each PADD carries its own monthly seasonality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ario_p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7040880" cy="3180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18872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8976" y="1691640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PADD 3 ~10,252 kbd and PADD 2 ~5,461 kbd dominate the 2027 unplanned forecast.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8716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441448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PADD 5 ~4,340 kbd, with its distinct California seasonal shape.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36976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08976" y="3191256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More honest than splitting one national number by a flat share - the monthly shapes differ by region.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986784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8976" y="3941064"/>
            <a:ext cx="4078224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Per-PADD baselines flex with the same growth and multiplier dials in the workbook.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Sensitivity &amp;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How the 2027 unplanned forecast flexes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625344" cy="3657600"/>
          </a:xfrm>
          <a:prstGeom prst="rect">
            <a:avLst/>
          </a:prstGeom>
        </p:spPr>
      </p:pic>
      <p:pic>
        <p:nvPicPr>
          <p:cNvPr id="7" name="Picture 6" descr="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71600"/>
            <a:ext cx="5394960" cy="2663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84632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Key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21208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Base case 21,790 kbd is outlined; grid spans -10%..+15% growth x 0.7..1.5x 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82472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779008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unplanned-rate multiplier is the dominant driver.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5257800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5212080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Range runs ~15,253-37,588 kbd across plausible inputs.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824728"/>
            <a:ext cx="91440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5779008"/>
            <a:ext cx="5358384" cy="51206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Tornado ranks drivers by swing; window choice is second.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Method &amp;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Read before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44168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Primary metric is CAP_OFFLINE_ADJUSTED_KBD (offline capacity, kbd, all units). Mogas is a secondary overlay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93392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Outage type is binary {PLANNED, UNPLANNED}; UNKNOWN folds into UNPLANNED per desk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70632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06624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2027 is planned-only - any Plan+Unplanned or Unplanned comparison vs 2027 is shown n/a; only Planned is comparable. Unplanned-2027 is a modeled scenario.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483864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19856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2020-2021 (COVID / Winter Storm Uri) are excluded from forecast baselines by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97096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33088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Scenario = baseline(window) x (1+growth) x multiplier + one-off(stress month); the Excel workbook recomputes it live from dropdown inputs.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910328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All numbers refresh from the source export - re-run the build to update workbook, deck and dashboard together.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