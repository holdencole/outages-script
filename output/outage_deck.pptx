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89520" y="0"/>
            <a:ext cx="4602175" cy="6858000"/>
          </a:xfrm>
          <a:prstGeom prst="rect">
            <a:avLst/>
          </a:prstGeom>
          <a:solidFill>
            <a:srgbClr val="244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90956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32104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73252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55548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78992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20140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61288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90956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32104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73252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55548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6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37844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78992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20140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61288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90956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32104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73252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14400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55548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96696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37844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78992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120140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61288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90956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32104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73252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4400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55548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96696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037844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78992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20140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61288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90956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32104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73252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14400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55548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6696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037844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078992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120140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161288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90956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832104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873252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914400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955548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996696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037844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078992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120140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161288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790956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832104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73252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914400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955548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996696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037844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078992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120140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161288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90956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32104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73252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914400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955548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96696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037844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078992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120140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161288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790956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832104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873252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14400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55548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996696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037844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078992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120140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161288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790956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832104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873252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914400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955548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996696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037844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1078992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120140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161288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90956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832104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873252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914400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955548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996696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037844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078992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120140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161288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790956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32104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73252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914400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955548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996696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037844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078992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120140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161288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790956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32104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73252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914400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955548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996696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037844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078992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120140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161288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790956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832104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873252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14400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55548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996696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037844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078992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1120140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1161288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640080" y="457200"/>
            <a:ext cx="548640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D6E0F0"/>
                </a:solidFill>
                <a:latin typeface="Arial"/>
              </a:rPr>
              <a:t>June 15th, 2026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658368" y="950976"/>
            <a:ext cx="6035040" cy="15240"/>
          </a:xfrm>
          <a:prstGeom prst="rect">
            <a:avLst/>
          </a:prstGeom>
          <a:solidFill>
            <a:srgbClr val="4A66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8229600" y="411480"/>
            <a:ext cx="3474720" cy="45720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Products Trading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40080" y="2743200"/>
            <a:ext cx="694944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0" i="0">
                <a:solidFill>
                  <a:srgbClr val="D6E0F0"/>
                </a:solidFill>
                <a:latin typeface="Arial"/>
              </a:rPr>
              <a:t>Products Trading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21792" y="3200400"/>
            <a:ext cx="7315200" cy="15544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Refinery Outage &amp;</a:t>
            </a:r>
          </a:p>
          <a:p>
            <a:pPr algn="l"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2027 Turnaround Outlook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658368" y="4983480"/>
            <a:ext cx="2560320" cy="3175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58368" y="5166360"/>
            <a:ext cx="676656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D6E0F0"/>
                </a:solidFill>
                <a:latin typeface="Arial"/>
              </a:rPr>
              <a:t>Capacity offline (kbd) - planned &amp; unplanned - 2027 scenario   |   46,464 rows, 2010-2038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332720" y="6400800"/>
            <a:ext cx="16916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D6E0F0"/>
                </a:solidFill>
                <a:latin typeface="Arial"/>
              </a:rPr>
              <a:t>PROPRIETARY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Month-over-Month - What Moved (Jun 2026)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Latest reported month Jun 2026 vs May 2026 - change in capacity offline (kbd)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1</a:t>
            </a:r>
          </a:p>
        </p:txBody>
      </p:sp>
      <p:pic>
        <p:nvPicPr>
          <p:cNvPr id="6" name="Picture 5" descr="mom_mov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867" y="1234440"/>
            <a:ext cx="6421785" cy="2331720"/>
          </a:xfrm>
          <a:prstGeom prst="rect">
            <a:avLst/>
          </a:prstGeom>
        </p:spPr>
      </p:pic>
      <p:pic>
        <p:nvPicPr>
          <p:cNvPr id="7" name="Picture 6" descr="mom_tr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3806773"/>
            <a:ext cx="6766560" cy="212481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53528" y="1783080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Total offline ~1,223 kbd in Jun 2026 vs ~2,204 in May 2026 (-981 kbd, -44%) - mostly planned turnarounds.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52360" y="254203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53528" y="2478024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Unplanned ~1,044 vs ~1,202 kbd (-158); planned ~179 vs ~1,001 (-822).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310896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53528" y="3044952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Biggest regional swings: PADD 2 -691 kbd, PADD 1 +203.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52360" y="36758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53528" y="3611880"/>
            <a:ext cx="4233672" cy="329184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Largest unit move: Atmos Distillation -432 kbd.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52360" y="42428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53528" y="4178808"/>
            <a:ext cx="4233672" cy="329184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83 distinct outages this month vs 191 prior.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52360" y="4809744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53528" y="4745736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Read this as the current pulse; the 2027 planned outlook and scenarios follow.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'Latest reported month' = the most recent month with substantially-complete unplanned reporting (later months still filling in are excluded so the step isn't a reporting artifact).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New &amp; Resolved Outages - Jun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Which outages drove the month's change - added vs dropped off (by offline kbd)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2</a:t>
            </a:r>
          </a:p>
        </p:txBody>
      </p:sp>
      <p:pic>
        <p:nvPicPr>
          <p:cNvPr id="6" name="Picture 5" descr="mom_newg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404413"/>
            <a:ext cx="6766560" cy="241493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53528" y="1783080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63 outages newly offline in Jun 2026; 171 resolved or came back online.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0" y="2414016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65008" y="2350008"/>
            <a:ext cx="382219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B33"/>
                </a:solidFill>
                <a:latin typeface="Arial"/>
              </a:rPr>
              <a:t>New: Corpus Christi - East (CITGO) - Atmos Distillation (~99 kbd).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2926080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5008" y="2862072"/>
            <a:ext cx="3822192" cy="329184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B33"/>
                </a:solidFill>
                <a:latin typeface="Arial"/>
              </a:rPr>
              <a:t>New: Texas City - Hydrotreating (~52 kbd).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63840" y="3438144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65008" y="3374136"/>
            <a:ext cx="3822192" cy="329184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B33"/>
                </a:solidFill>
                <a:latin typeface="Arial"/>
              </a:rPr>
              <a:t>New: Par East - Atmos Distillation (~45 kbd).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63840" y="3950208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65008" y="3886200"/>
            <a:ext cx="3822192" cy="329184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B33"/>
                </a:solidFill>
                <a:latin typeface="Arial"/>
              </a:rPr>
              <a:t>Resolved: Robinson - Atmos Distillation (~181 kbd).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63840" y="4462272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65008" y="4398264"/>
            <a:ext cx="3822192" cy="329184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B33"/>
                </a:solidFill>
                <a:latin typeface="Arial"/>
              </a:rPr>
              <a:t>Resolved: Baytown - Atmos Distillation (~113 kbd).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63840" y="4974336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65008" y="4910328"/>
            <a:ext cx="3822192" cy="329184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B33"/>
                </a:solidFill>
                <a:latin typeface="Arial"/>
              </a:rPr>
              <a:t>Resolved: El Segundo - Hydrotreating (~59 kbd).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52360" y="548640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53528" y="5422392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New = an OUTAGE_ID present this month but not last; resolved = present last month, not this.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Counts are distinct OUTAGE_IDs. A large 'resolved' count in a turnaround-trough month is expected as spring/autumn planned work completes.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2027 vs 2026 &amp; 2025 - Planned Offline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US planned capacity offline (kbd); 2027 book complete through H1 only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3</a:t>
            </a:r>
          </a:p>
        </p:txBody>
      </p:sp>
      <p:pic>
        <p:nvPicPr>
          <p:cNvPr id="6" name="Picture 5" descr="planned_x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8396" y="1234440"/>
            <a:ext cx="4872728" cy="2331720"/>
          </a:xfrm>
          <a:prstGeom prst="rect">
            <a:avLst/>
          </a:prstGeom>
        </p:spPr>
      </p:pic>
      <p:pic>
        <p:nvPicPr>
          <p:cNvPr id="7" name="Picture 6" descr="padd_pai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211" y="3703320"/>
            <a:ext cx="6573098" cy="2331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53528" y="1783080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H1 is the clean read: 2027 H1 planned ~9,211 kbd vs 2026 H1 ~8,162 (+13%) - a real, like-for-like step up.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52360" y="254203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53528" y="2478024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Full-year looks larger (+32% vs 2026) only because 2026 H2 is light/incomplete; don't over-read it - 2027 H2 is still being scheduled.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323697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53528" y="3172968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Gulf Coast leads the build: PADD 3 planned +73% y/y; PADD 2 is the only region lighter (-14%).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52360" y="3803904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53528" y="3739896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Work concentrates in spring (Mar-May) and autumn (Sep-Oct) - the usual turnaround windows.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52360" y="437083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53528" y="4306824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Only planned is comparable vs 2027 (no actual unplanned-2027 exists); the unplanned outlook is next.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2027 planned data is incomplete past H1 - compare H1-vs-H1; the full-year bar fills in as operators book H2.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2027 Potential Unplanned - Scenario Fan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Conservative / Average / Active paths off the 2022-25 seasonal baseline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4</a:t>
            </a:r>
          </a:p>
        </p:txBody>
      </p:sp>
      <p:pic>
        <p:nvPicPr>
          <p:cNvPr id="6" name="Picture 5" descr="f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431" y="1234440"/>
            <a:ext cx="5048658" cy="2331720"/>
          </a:xfrm>
          <a:prstGeom prst="rect">
            <a:avLst/>
          </a:prstGeom>
        </p:spPr>
      </p:pic>
      <p:pic>
        <p:nvPicPr>
          <p:cNvPr id="7" name="Picture 6" descr="scenario_tot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079" y="3703320"/>
            <a:ext cx="6563361" cy="2331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53528" y="1783080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Average case ~21,788 kbd unplanned; Conservative ~17,431 (calm year, x0.8), Active ~28,325 (heavy year, x1.3).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52360" y="254203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53528" y="2478024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On top of 15,923 kbd booked planned, that's an implied total of ~33,354 / ~37,711 / ~44,248 kbd.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310896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53528" y="3044952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Active vs Conservative spans ~10,894 kbd (+62%) - the unplanned risk range to hedge.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52360" y="36758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53528" y="3611880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Risk peaks in Feb (winter freeze) and Sep-Oct (turnaround overlap), with a summer trough.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52360" y="42428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53528" y="4178808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Fully tunable in the Excel Scenario Analysis sheet - window, growth, multiplier, one-off and stress month.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Outages in Dollars - Gross Margin at Risk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Offline capacity valued at the gasoline crack spread (EIA NYH gasoline - WTI)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5</a:t>
            </a:r>
          </a:p>
        </p:txBody>
      </p:sp>
      <p:pic>
        <p:nvPicPr>
          <p:cNvPr id="6" name="Picture 5" descr="dol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178" y="1234440"/>
            <a:ext cx="4949164" cy="2331720"/>
          </a:xfrm>
          <a:prstGeom prst="rect">
            <a:avLst/>
          </a:prstGeom>
        </p:spPr>
      </p:pic>
      <p:pic>
        <p:nvPicPr>
          <p:cNvPr id="7" name="Picture 6" descr="dollar_mon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670" y="3703320"/>
            <a:ext cx="6566180" cy="2331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53528" y="1783080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Valuing offline capacity at the gasoline crack turns outages into P&amp;L: 2025 unplanned outages = ~$10.8bn gross margin at risk (crack ~$19/bbl).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52360" y="254203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53528" y="2478024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Planned turnarounds ~$10.6bn, timed into softer-margin shoulder seasons.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310896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53528" y="3044952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Crack has firmed to ~$33/bbl in 2026 (from ~$19), so the same offline volume is worth materially more this year.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52360" y="3803904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53528" y="3739896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2020-21 spikes ($35bn+) reflect the COVID / Winter-Storm-Uri extremes, not normal years.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52360" y="437083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53528" y="4306824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Crack is a Bloomberg-overwritable input in the Excel Margin Context sheet (swap EIA seed for RBOB 321).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$MM = offline kbd x crack ($/bbl) x days / 1000. A gross-margin proxy; unplanned = unexpected supply loss, planned = margin deferred via scheduled work.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Back-to-Back-to-Back FCC Outages - ExxonMobil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Consecutive-month FCC (cat cracker) runs external trackers miss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6</a:t>
            </a:r>
          </a:p>
        </p:txBody>
      </p:sp>
      <p:pic>
        <p:nvPicPr>
          <p:cNvPr id="6" name="Picture 5" descr="f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555" y="1234440"/>
            <a:ext cx="6000409" cy="2331720"/>
          </a:xfrm>
          <a:prstGeom prst="rect">
            <a:avLst/>
          </a:prstGeom>
        </p:spPr>
      </p:pic>
      <p:pic>
        <p:nvPicPr>
          <p:cNvPr id="7" name="Picture 6" descr="fcc_y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687" y="3703320"/>
            <a:ext cx="6254146" cy="2331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53528" y="1783080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This granular book captures repeated FCC outages in adjacent months at the same Exxon plant - genuine back-to-back-to-back runs.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52360" y="254203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53528" y="2478024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Baton Rouge ran Jan-Jun 2022 (6 months); Joliet Feb-Jun 2026 (5); Baytown Jan-Mar 2023; Joliet Feb-May 2025.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323697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53528" y="3172968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Month-aggregated external trackers smooth these into one figure and lose the consecutive-run signal.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52360" y="3803904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53528" y="3739896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18 such Exxon FCC runs (&gt;=3 consecutive months) since 2011 - a recurring, model-able pattern.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52360" y="437083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53528" y="4306824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FCC is the most gasoline-relevant unit loss (0.65 mogas yield) - octane/blending risk stacks.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Runs outlined are &gt;=3 consecutive calendar months of FCC outage at one plant; 2020 excluded.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ExxonMobil - 2027 Outages Breakdown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2027 is planned-only; this is Exxon's booked turnaround slate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7</a:t>
            </a:r>
          </a:p>
        </p:txBody>
      </p:sp>
      <p:pic>
        <p:nvPicPr>
          <p:cNvPr id="6" name="Picture 5" descr="exxon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894" y="1234440"/>
            <a:ext cx="4947731" cy="2331720"/>
          </a:xfrm>
          <a:prstGeom prst="rect">
            <a:avLst/>
          </a:prstGeom>
        </p:spPr>
      </p:pic>
      <p:pic>
        <p:nvPicPr>
          <p:cNvPr id="7" name="Picture 6" descr="exxon_un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644" y="3703320"/>
            <a:ext cx="6604232" cy="2331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53528" y="1783080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ExxonMobil has ~2,378 kbd of planned offline booked for 2027 across 4 refineries.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52360" y="24140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53528" y="2350008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Joliet (PADD 2) dominates at ~1,319 kbd (~55%) - a major spring (Apr-May) turnaround including the FCC.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2980944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53528" y="2916936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Beaumont ~382, Baytown ~375, Baton Rouge ~302 kbd round out the slate.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52360" y="354787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53528" y="3483864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By unit: crude trains ~946 (atmos+vac), FCC ~562, hydrotreating ~474 kbd.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52360" y="411480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53528" y="4050792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Calendar: heaviest in April with a second wave in Sep-Oct - watch the Joliet spring event.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Planned 2027 by Region - All PADDs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Per-PADD monthly offline: 2026 actuals, recent-year totals and the 2027 booked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8</a:t>
            </a:r>
          </a:p>
        </p:txBody>
      </p:sp>
      <p:pic>
        <p:nvPicPr>
          <p:cNvPr id="6" name="Picture 5" descr="padd_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61795"/>
            <a:ext cx="7955279" cy="47001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49640" y="1371600"/>
            <a:ext cx="34290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854964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50808" y="1783080"/>
            <a:ext cx="322783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2027 planned offline vs 2026, by region (kbd):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61120" y="2328671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62288" y="2264663"/>
            <a:ext cx="2816352" cy="329184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2B33"/>
                </a:solidFill>
                <a:latin typeface="Arial"/>
              </a:rPr>
              <a:t>PADD 1: ~389 vs ~186  (+109%).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61120" y="2694431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62288" y="2630423"/>
            <a:ext cx="2816352" cy="329184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2B33"/>
                </a:solidFill>
                <a:latin typeface="Arial"/>
              </a:rPr>
              <a:t>PADD 2: ~3,995 vs ~4,634  (-14%).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61120" y="3060191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62288" y="2996183"/>
            <a:ext cx="2816352" cy="329184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2B33"/>
                </a:solidFill>
                <a:latin typeface="Arial"/>
              </a:rPr>
              <a:t>PADD 3: ~8,546 vs ~4,929  (+73%).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61120" y="3425951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62288" y="3361943"/>
            <a:ext cx="2816352" cy="329184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2B33"/>
                </a:solidFill>
                <a:latin typeface="Arial"/>
              </a:rPr>
              <a:t>PADD 4: ~974 vs ~517  (+88%).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0" y="3791711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62288" y="3727703"/>
            <a:ext cx="2816352" cy="329184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2B33"/>
                </a:solidFill>
                <a:latin typeface="Arial"/>
              </a:rPr>
              <a:t>PADD 5: ~2,018 vs ~1,764  (+14%).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49640" y="4157471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50808" y="4093463"/>
            <a:ext cx="322783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National ~15,923 kbd in 2027 vs ~12,029 in 2026 (+32%) - Gulf Coast (PADD 3) leads the build.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49640" y="4806695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50808" y="4742687"/>
            <a:ext cx="322783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Each panel: 2026 plan+unplanned (bars), recent-year totals (lines), 2027 plan (green dashed).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2027 is planned-only and complete through H1; H2 books fill in. 2020-21 excluded.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Largest 2027 Turnarounds Nationally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Planned turnaround schedule - offline capacity, kbd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234440"/>
          <a:ext cx="10652760" cy="422452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377440"/>
                <a:gridCol w="2468880"/>
                <a:gridCol w="731520"/>
                <a:gridCol w="777240"/>
                <a:gridCol w="731520"/>
                <a:gridCol w="868680"/>
                <a:gridCol w="868680"/>
                <a:gridCol w="182880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Company</a:t>
                      </a:r>
                    </a:p>
                  </a:txBody>
                  <a:tcPr marL="38100" marR="38100" marT="12700" marB="127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Refinery</a:t>
                      </a:r>
                    </a:p>
                  </a:txBody>
                  <a:tcPr marL="38100" marR="38100" marT="12700" marB="127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PADD</a:t>
                      </a:r>
                    </a:p>
                  </a:txBody>
                  <a:tcPr marL="38100" marR="38100" marT="12700" marB="127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Offline
(kbd)</a:t>
                      </a:r>
                    </a:p>
                  </a:txBody>
                  <a:tcPr marL="38100" marR="38100" marT="12700" marB="127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% of
PADD</a:t>
                      </a:r>
                    </a:p>
                  </a:txBody>
                  <a:tcPr marL="38100" marR="38100" marT="12700" marB="127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Start</a:t>
                      </a:r>
                    </a:p>
                  </a:txBody>
                  <a:tcPr marL="38100" marR="38100" marT="12700" marB="127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End</a:t>
                      </a:r>
                    </a:p>
                  </a:txBody>
                  <a:tcPr marL="38100" marR="38100" marT="12700" marB="127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Unit</a:t>
                      </a:r>
                    </a:p>
                  </a:txBody>
                  <a:tcPr marL="38100" marR="38100" marT="12700" marB="12700">
                    <a:solidFill>
                      <a:srgbClr val="1F3864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Chevron Corporation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Richmond Refinery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P5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232.8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11.5%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10/1/27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10/30/27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Atmos Distillation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Motiva Enterprises Llc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Port Arthur Refinery (Motiva)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P3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203.0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2.4%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9/3/27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10/7/27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Atmos Distillation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Shell Oil Products Us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Norco Refinery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P3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196.8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2.3%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10/2/27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11/20/27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Atmos Distillation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Exxonmobil Corporation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Joliet Refinery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P2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189.8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4.7%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9/2/27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10/21/27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Atmos Distillation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Exxonmobil Corporation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Joliet Refinery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P2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161.2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4.0%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4/5/27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5/13/27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Atmos Distillation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Motiva Enterprises Llc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Port Arthur Refinery (Motiva)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P3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147.0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1.7%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9/17/27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10/31/27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Atmos Distillation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Bp Products North America Inco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Cherry Point Refinery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P5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120.0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5.9%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3/12/27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3/26/27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Atmos Distillation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Citgo Petroleum Corporation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Lemont Refinery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P2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114.6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2.9%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4/9/27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5/18/27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Atmos Distillation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Marathon Petroleum Corporation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Garyville Refinery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P3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94.9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1.1%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1/15/27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2/4/27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Atmos Distillation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Marathon Petroleum Corporation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Garyville Refinery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P3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94.7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1.1%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9/3/27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11/1/27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Atmos Distillation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Marathon Petroleum Corporation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Garyville Refinery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P3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94.7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1.1%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9/3/27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11/1/27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Atmos Distillation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Exxonmobil Corporation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Beaumont Refinery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P3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93.6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1.1%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1/7/27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2/21/27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Fluid Cat Cracking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Martinez Refining Company Llc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Martinez Refinery (PBF)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P5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89.9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4.5%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1/15/27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3/6/27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Atmos Distillation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Exxonmobil Corporation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Joliet Refinery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P2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82.3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2.1%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4/2/27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5/22/27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Fluid Cat Cracking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Top planned 2027 turnarounds by offline capacity (kbd), all PADDs. 2027 is planned-only and complete through H1; H2 books continue to fill in.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