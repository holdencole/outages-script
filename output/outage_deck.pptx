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589520" y="0"/>
            <a:ext cx="4602175" cy="6858000"/>
          </a:xfrm>
          <a:prstGeom prst="rect">
            <a:avLst/>
          </a:prstGeom>
          <a:solidFill>
            <a:srgbClr val="2440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90956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32104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73252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4400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55548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6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37844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78992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20140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61288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90956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32104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73252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55548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6696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37844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78992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20140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61288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90956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32104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73252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14400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55548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96696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37844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78992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120140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161288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90956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32104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73252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914400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955548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996696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037844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078992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120140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161288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790956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32104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873252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914400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955548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996696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1037844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078992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120140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161288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790956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832104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873252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914400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955548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996696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1037844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078992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1120140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1161288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790956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832104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873252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914400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955548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996696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1037844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1078992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1120140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1161288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790956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832104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873252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914400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955548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996696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1037844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1078992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1120140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1161288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790956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832104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873252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914400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955548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996696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1037844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1078992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1120140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1161288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790956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832104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873252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914400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955548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996696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1037844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1078992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1120140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1161288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790956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832104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873252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914400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955548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996696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1037844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1078992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1120140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1161288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790956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832104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873252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914400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955548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996696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1037844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1078992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1120140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1161288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790956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832104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873252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914400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955548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996696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1037844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1078992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1120140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1161288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790956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832104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873252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914400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955548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996696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1037844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1078992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1120140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1161288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640080" y="457200"/>
            <a:ext cx="5486400" cy="36576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D6E0F0"/>
                </a:solidFill>
                <a:latin typeface="Arial"/>
              </a:rPr>
              <a:t>June 26th, 2026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658368" y="950976"/>
            <a:ext cx="6035040" cy="15240"/>
          </a:xfrm>
          <a:prstGeom prst="rect">
            <a:avLst/>
          </a:prstGeom>
          <a:solidFill>
            <a:srgbClr val="4A66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8229600" y="411480"/>
            <a:ext cx="3474720" cy="45720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1800" b="1" i="0">
                <a:solidFill>
                  <a:srgbClr val="FFFFFF"/>
                </a:solidFill>
                <a:latin typeface="Arial"/>
              </a:rPr>
              <a:t>Products Trading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40080" y="2651760"/>
            <a:ext cx="6949440" cy="36576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0" i="0">
                <a:solidFill>
                  <a:srgbClr val="D6E0F0"/>
                </a:solidFill>
                <a:latin typeface="Arial"/>
              </a:rPr>
              <a:t>Products Trading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621792" y="3108960"/>
            <a:ext cx="7315200" cy="15544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Refinery Outages</a:t>
            </a:r>
          </a:p>
          <a:p>
            <a:pPr algn="l">
              <a:spcAft>
                <a:spcPts val="20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2027 Outlook by Unit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658368" y="4892040"/>
            <a:ext cx="2560320" cy="3175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58368" y="5074920"/>
            <a:ext cx="7223760" cy="82296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D6E0F0"/>
                </a:solidFill>
                <a:latin typeface="Arial"/>
              </a:rPr>
              <a:t>Capacity offline by unit, region &amp; operator, and what it tightens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9DB6DB"/>
                </a:solidFill>
                <a:latin typeface="Arial"/>
              </a:rPr>
              <a:t>2027: ExxonMobil full-year (verified vs their plan); all other operators H1-confirmed only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332720" y="6400800"/>
            <a:ext cx="16916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D6E0F0"/>
                </a:solidFill>
                <a:latin typeface="Arial"/>
              </a:rPr>
              <a:t>PROPRIETARY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Total 2027 Outages by Unit, and What They Tighten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Capacity offline by unit &amp; month; solid = confirmed, hatched = non-Exxon H2 (not yet booked)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1</a:t>
            </a:r>
          </a:p>
        </p:txBody>
      </p:sp>
      <p:pic>
        <p:nvPicPr>
          <p:cNvPr id="6" name="Picture 5" descr="splits_20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73532"/>
            <a:ext cx="8138160" cy="46766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86800" y="1371600"/>
            <a:ext cx="32918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F3864"/>
                </a:solidFill>
                <a:latin typeface="Arial"/>
              </a:rPr>
              <a:t>Key takeaways: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0" y="184708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87968" y="1783080"/>
            <a:ext cx="3090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CDU down cuts the whole site's run, every product. FCC = gasoline + octane. Reformer = octane. Hydrocracker = diesel/jet.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0" y="2496312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87968" y="2432304"/>
            <a:ext cx="3090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Confirmed peak (all H1): CDU ~1,063, FCC ~492, hydrocracker ~219, reformer ~206 kbd.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0" y="314553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87968" y="3081528"/>
            <a:ext cx="309067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Units read separately, never added: a 250 CDU plus a 100 FCC is not '350 offline'.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0" y="3627119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87968" y="3563111"/>
            <a:ext cx="3090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Solid = confirmed (Exxon full-year + everyone's H1). Hatched = non-Exxon H2: don't trade the autumn spike as real.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163056"/>
            <a:ext cx="10515600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Day-weighted offline (a unit down part of a month counts only its days down), each unit once per month. Non-Exxon H2 2027 is a floor that fills in.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What's Driving the Numbers: the Biggest Outages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Each bar is one unit's nameplate offline (kbd) in 2027, colored by PADD (region)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2</a:t>
            </a:r>
          </a:p>
        </p:txBody>
      </p:sp>
      <p:pic>
        <p:nvPicPr>
          <p:cNvPr id="6" name="Picture 5" descr="biggest_outag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0093" y="1188720"/>
            <a:ext cx="7049493" cy="4846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86800" y="1371600"/>
            <a:ext cx="32918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F3864"/>
                </a:solidFill>
                <a:latin typeface="Arial"/>
              </a:rPr>
              <a:t>Key takeaways: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0" y="184708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87968" y="1783080"/>
            <a:ext cx="3090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Big tonnage sits in PADD 3: that's where one outage moves USGC supply and the export barrel most.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0" y="2496312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87968" y="2432304"/>
            <a:ext cx="3090672" cy="104241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Biggest: Garyville (275 kbd), Cherry Point (250 kbd), Joliet (250 kbd). Mostly crude (CDU); one CDU down cuts the whole site's run.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0" y="331317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87968" y="3249168"/>
            <a:ext cx="3090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Read each bar alone: individual units, never added. Biggest single outage ~275 kbd, not a summed total.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0" y="3962400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87968" y="3898392"/>
            <a:ext cx="309067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Hatched = non-Exxon H2: still being booked, an indicative floor, not confirmed.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163056"/>
            <a:ext cx="10515600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Per-unit nameplate offline, the 12 biggest focus-unit outages of 2027. Color = PADD region; hatched = non-Exxon H2 (indicative).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H1 Planned Outages per Unit &amp; Month: 2025 / 2026 / 2027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Like-for-like Jan-Jun planned offline, by unit and month (2027 confirmed through H1)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3</a:t>
            </a:r>
          </a:p>
        </p:txBody>
      </p:sp>
      <p:pic>
        <p:nvPicPr>
          <p:cNvPr id="6" name="Picture 5" descr="h1_month_by_un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06008"/>
            <a:ext cx="8138160" cy="461174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86800" y="1371600"/>
            <a:ext cx="32918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F3864"/>
                </a:solidFill>
                <a:latin typeface="Arial"/>
              </a:rPr>
              <a:t>Key takeaways: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0" y="184708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87968" y="1783080"/>
            <a:ext cx="3090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H1 is the only honest cross-year read: 2027 is booked through June; H2 is still being scheduled.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0" y="2496312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87968" y="2432304"/>
            <a:ext cx="3090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2027 runs heavier than 2025 and 2026 in most H1 months: the orange bar stands tallest.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0" y="314553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87968" y="3081528"/>
            <a:ext cx="3090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Crude (CDU) averages ~548 kbd vs ~325 (2026), ~393 (2025); crests in Mar (~1,063 kbd).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0" y="3794760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87968" y="3730752"/>
            <a:ext cx="3090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Heavier spring = tighter product supply. Read each unit and month on its own, never added.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163056"/>
            <a:ext cx="10515600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Day-weighted capacity offline by month, planned only, each unit once per month. Per-panel y-axis. 2025/26 actuals; 2027 the booked plan.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Outages by PADD by Unit: Where It Tightens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2027 crude (CDU, top) and cat-cracker (FCC, bottom) offline by region &amp; month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4</a:t>
            </a:r>
          </a:p>
        </p:txBody>
      </p:sp>
      <p:pic>
        <p:nvPicPr>
          <p:cNvPr id="6" name="Picture 5" descr="cdu_padd_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2456" y="1234440"/>
            <a:ext cx="4284608" cy="2331720"/>
          </a:xfrm>
          <a:prstGeom prst="rect">
            <a:avLst/>
          </a:prstGeom>
        </p:spPr>
      </p:pic>
      <p:pic>
        <p:nvPicPr>
          <p:cNvPr id="7" name="Picture 6" descr="fcc_padd_2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55392" y="3703320"/>
            <a:ext cx="4278735" cy="23317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452360" y="1371600"/>
            <a:ext cx="44348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1F3864"/>
                </a:solidFill>
                <a:latin typeface="Arial"/>
              </a:rPr>
              <a:t>Key takeaways: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84708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53528" y="1783080"/>
            <a:ext cx="4233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PADD 3 (Gulf) is the swing region: most crude and FCC work lands there, tightening USGC supply and the export barrel.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52360" y="2542032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53528" y="2478024"/>
            <a:ext cx="4233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PADD 2 (Midwest) carries the spring crude (Joliet). PADD 5 (West) is islanded: a California outage isn't bailed out by other regions.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323697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53528" y="3172968"/>
            <a:ext cx="423367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Windows are spring (Mar-May) and autumn (Sep-Oct); summer is protected for driving-season gasoline.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52360" y="3803904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53528" y="3739896"/>
            <a:ext cx="4233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Past the dotted line (H2) is non-Exxon, unconfirmed: those autumn bars are a floor that grows as operators book.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163056"/>
            <a:ext cx="10515600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Day-weighted concurrent capacity offline by month, stacked by PADD. P1 NE, P2 Midwest, P3 Gulf, P4 Rockies, P5 West.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Naphtha Balance: CDU Supply vs Reformer Demand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2027 outages read as naphtha length. CDU makes naphtha; reformers consume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5</a:t>
            </a:r>
          </a:p>
        </p:txBody>
      </p:sp>
      <p:pic>
        <p:nvPicPr>
          <p:cNvPr id="6" name="Picture 5" descr="naphtha_bal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44922"/>
            <a:ext cx="8138160" cy="393391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86800" y="1371600"/>
            <a:ext cx="32918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F3864"/>
                </a:solidFill>
                <a:latin typeface="Arial"/>
              </a:rPr>
              <a:t>Key takeaways: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0" y="184708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87968" y="1783080"/>
            <a:ext cx="3090672" cy="104241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Crude makes naphtha (~35% of the barrel); reformers run on it. CDU down removes naphtha supply, reformer down removes demand.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0" y="2663952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87968" y="2599944"/>
            <a:ext cx="3090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All of 2027 sits in deficit (net -1,302 kbd): crude turnarounds pull more naphtha off than reformer turnarounds free up.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0" y="331317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87968" y="3249168"/>
            <a:ext cx="3090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Tightest in Oct (-331) and Sep (-222) kbd, the autumn crude stack. Deficit = naphtha short, bullish reformate margins.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0" y="3962400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87968" y="3898392"/>
            <a:ext cx="3090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Reformer down frees naphtha but cuts reformate (~85% of feed = octane), squeezing the gasoline pool's octane.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163056"/>
            <a:ext cx="10515600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Net = reformer offline x 1 (demand) minus CDU offline x 0.35 (supply), day-weighted. + surplus / - deficit. H2 non-Exxon is indicative.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ExxonMobil 2027 by Unit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Each unit's turnaround as its own bar, nameplate capacity offline (kbd)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6</a:t>
            </a:r>
          </a:p>
        </p:txBody>
      </p:sp>
      <p:pic>
        <p:nvPicPr>
          <p:cNvPr id="6" name="Picture 5" descr="exxon_gant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03405"/>
            <a:ext cx="8138160" cy="44169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86800" y="1371600"/>
            <a:ext cx="32918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F3864"/>
                </a:solidFill>
                <a:latin typeface="Arial"/>
              </a:rPr>
              <a:t>Key takeaways: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0" y="184708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87968" y="1783080"/>
            <a:ext cx="3090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ExxonMobil is the only operator with a full-year 2027 plan, so its H2 is the only confirmed H2. Everyone else is H1-only.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0" y="2496312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87968" y="2432304"/>
            <a:ext cx="3090672" cy="104241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Per unit, never summed: the 'Exxon ~700 kbd' figure was 8 Joliet units in one April turnaround added together. It's really ~250 kbd of crude.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0" y="331317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87968" y="3249168"/>
            <a:ext cx="3090672" cy="104241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Reconciled to Exxon's own corporate plan (7 units): Baytown &amp; Beaumont FCC in Q1, Joliet crude Apr-May, Baton Rouge crude in autumn.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163056"/>
            <a:ext cx="10515600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Cross-checked against ExxonMobil's corporate turnaround plan; match = same refinery + unit class, overlapping months.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2027 Unplanned Scenario: the Risk on Top of Planned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Potential unplanned offline (kbd) modeled on the 2023-26 seasonal pattern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7</a:t>
            </a:r>
          </a:p>
        </p:txBody>
      </p:sp>
      <p:pic>
        <p:nvPicPr>
          <p:cNvPr id="6" name="Picture 5" descr="f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3190" y="1234440"/>
            <a:ext cx="5043140" cy="2331720"/>
          </a:xfrm>
          <a:prstGeom prst="rect">
            <a:avLst/>
          </a:prstGeom>
        </p:spPr>
      </p:pic>
      <p:pic>
        <p:nvPicPr>
          <p:cNvPr id="7" name="Picture 6" descr="scenario_tot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7935" y="3703320"/>
            <a:ext cx="6553650" cy="23317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452360" y="1371600"/>
            <a:ext cx="44348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1F3864"/>
                </a:solidFill>
                <a:latin typeface="Arial"/>
              </a:rPr>
              <a:t>Key takeaways: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84708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53528" y="1783080"/>
            <a:ext cx="423367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2027 has no actual unplanned yet: this is the risk range on top of the booked plan.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52360" y="241401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53528" y="2350008"/>
            <a:ext cx="4233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Average ~13,046 kbd unplanned; Conservative ~10,437 (calm year), Active ~16,959 (heavy). Booked planned is ~15,691 kbd.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3108960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53528" y="3044952"/>
            <a:ext cx="423367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Implied total ~26,127 / ~28,737 / ~32,650 kbd (Conservative / Average / Active).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52360" y="367588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53528" y="3611880"/>
            <a:ext cx="423367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Risk peaks in Feb (winter freeze) and Sep-Oct (turnaround overlap); summer is the trough.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52360" y="424281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53528" y="4178808"/>
            <a:ext cx="423367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Trade it: Active = stress case for supply tightness; Conservative = the floor.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163056"/>
            <a:ext cx="10515600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Scenario = mean 2023-26 monthly unplanned shape (completeness-aware) x {0.8 / 1.0 / 1.3}. A risk range, not a forecast.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