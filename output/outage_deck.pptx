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0"/>
            <a:ext cx="4602175" cy="6858000"/>
          </a:xfrm>
          <a:prstGeom prst="rect">
            <a:avLst/>
          </a:prstGeom>
          <a:solidFill>
            <a:srgbClr val="244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09560" y="4572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321040" y="4572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32520" y="4572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0" y="4572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5480" y="4572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0" y="4572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78440" y="4572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0" y="4572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0" y="4572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12880" y="4572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09560" y="8686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8686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32520" y="8686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0" y="8686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55480" y="8686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0" y="8686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378440" y="8686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89920" y="8686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0" y="8686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612880" y="8686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09560" y="12801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21040" y="12801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32520" y="12801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0" y="12801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55480" y="12801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60" y="12801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78440" y="12801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789920" y="12801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201400" y="12801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12880" y="12801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09560" y="16916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21040" y="16916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20" y="16916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44000" y="16916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555480" y="16916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66960" y="16916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378440" y="16916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89920" y="16916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01400" y="16916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612880" y="16916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909560" y="210312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321040" y="210312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732520" y="210312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144000" y="210312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555480" y="210312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66960" y="210312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78440" y="210312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789920" y="210312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201400" y="210312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612880" y="210312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909560" y="25146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321040" y="25146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732520" y="25146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144000" y="25146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555480" y="25146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966960" y="25146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378440" y="25146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789920" y="25146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201400" y="25146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612880" y="25146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909560" y="29260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21040" y="29260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32520" y="29260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144000" y="29260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555480" y="29260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966960" y="29260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378440" y="29260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789920" y="29260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1201400" y="29260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612880" y="29260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909560" y="33375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21040" y="33375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732520" y="33375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144000" y="33375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555480" y="33375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66960" y="33375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378440" y="33375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789920" y="33375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1201400" y="33375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612880" y="33375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7909560" y="37490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321040" y="37490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732520" y="37490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144000" y="37490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555480" y="37490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66960" y="37490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378440" y="37490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789920" y="37490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01400" y="37490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612880" y="37490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909560" y="416052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8321040" y="416052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732520" y="416052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144000" y="416052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555480" y="416052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966960" y="416052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378440" y="416052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789920" y="416052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201400" y="416052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612880" y="416052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909560" y="45720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321040" y="45720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732520" y="45720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144000" y="45720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555480" y="45720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9966960" y="45720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0378440" y="45720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0789920" y="45720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201400" y="45720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612880" y="457200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7909560" y="49834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321040" y="49834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732520" y="49834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144000" y="49834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555480" y="49834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9966960" y="49834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0378440" y="49834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0789920" y="49834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201400" y="49834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612880" y="498348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7909560" y="53949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321040" y="53949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732520" y="53949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9144000" y="53949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9555480" y="53949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9966960" y="53949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0378440" y="53949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0789920" y="53949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201400" y="53949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612880" y="539496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7909560" y="58064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8321040" y="58064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8732520" y="58064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144000" y="58064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555480" y="58064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966960" y="58064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0378440" y="58064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0789920" y="58064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1201400" y="58064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1612880" y="5806440"/>
            <a:ext cx="63500" cy="63500"/>
          </a:xfrm>
          <a:prstGeom prst="ellipse">
            <a:avLst/>
          </a:prstGeom>
          <a:solidFill>
            <a:srgbClr val="3C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D6E0F0"/>
                </a:solidFill>
                <a:latin typeface="Arial"/>
              </a:rPr>
              <a:t>June 26th, 2026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58368" y="950976"/>
            <a:ext cx="6035040" cy="15240"/>
          </a:xfrm>
          <a:prstGeom prst="rect">
            <a:avLst/>
          </a:prstGeom>
          <a:solidFill>
            <a:srgbClr val="4A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229600" y="411480"/>
            <a:ext cx="3474720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Products Trading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40080" y="2651760"/>
            <a:ext cx="694944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 i="0">
                <a:solidFill>
                  <a:srgbClr val="D6E0F0"/>
                </a:solidFill>
                <a:latin typeface="Arial"/>
              </a:rPr>
              <a:t>Products Trading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21792" y="3108960"/>
            <a:ext cx="7315200" cy="15544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Refinery Outages</a:t>
            </a:r>
          </a:p>
          <a:p>
            <a:pPr algn="l"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2027 Outlook by Unit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58368" y="4892040"/>
            <a:ext cx="2560320" cy="3175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58368" y="5074920"/>
            <a:ext cx="7223760" cy="8229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D6E0F0"/>
                </a:solidFill>
                <a:latin typeface="Arial"/>
              </a:rPr>
              <a:t>Capacity offline by unit, region &amp; operator, and what it tightens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DB6DB"/>
                </a:solidFill>
                <a:latin typeface="Arial"/>
              </a:rPr>
              <a:t>2027: ExxonMobil full-year (verified vs their plan); all other operators H1-confirmed only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332720" y="6400800"/>
            <a:ext cx="1691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D6E0F0"/>
                </a:solidFill>
                <a:latin typeface="Arial"/>
              </a:rPr>
              <a:t>PROPRIETARY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0" i="0">
                <a:solidFill>
                  <a:srgbClr val="C00000"/>
                </a:solidFill>
                <a:latin typeface="Arial"/>
              </a:rPr>
              <a:t>Total 2027 Outages by Unit, and What They Tighten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Capacity offline by unit &amp; month; solid = confirmed, hatched = non-Exxon H2 (not yet booked)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82512"/>
            <a:ext cx="2743200" cy="29260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Arial"/>
              </a:rPr>
              <a:t>Products 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1</a:t>
            </a:r>
          </a:p>
        </p:txBody>
      </p:sp>
      <p:pic>
        <p:nvPicPr>
          <p:cNvPr id="6" name="Picture 5" descr="splits_2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73532"/>
            <a:ext cx="8138160" cy="46766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1371600"/>
            <a:ext cx="32918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Arial"/>
              </a:rPr>
              <a:t>Key takeaways: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1847088"/>
            <a:ext cx="82296" cy="82296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87968" y="1783080"/>
            <a:ext cx="3090672" cy="80467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62B33"/>
                </a:solidFill>
                <a:latin typeface="Arial"/>
              </a:rPr>
              <a:t>CDU down cuts the whole site's run, every product. FCC = gasoline + octane. Reformer = octane. Hydrocracker = diesel/jet.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2496312"/>
            <a:ext cx="82296" cy="82296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87968" y="2432304"/>
            <a:ext cx="3090672" cy="80467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62B33"/>
                </a:solidFill>
                <a:latin typeface="Arial"/>
              </a:rPr>
              <a:t>Confirmed peak (all H1): CDU ~1,063, FCC ~492, hydrocracker ~219, reformer ~206 kbd.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3145536"/>
            <a:ext cx="82296" cy="82296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87968" y="3081528"/>
            <a:ext cx="3090672" cy="56692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62B33"/>
                </a:solidFill>
                <a:latin typeface="Arial"/>
              </a:rPr>
              <a:t>Units read separately, never added: a 250 CDU plus a 100 FCC is not '350 offline'.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3627119"/>
            <a:ext cx="82296" cy="82296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87968" y="3563111"/>
            <a:ext cx="3090672" cy="80467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62B33"/>
                </a:solidFill>
                <a:latin typeface="Arial"/>
              </a:rPr>
              <a:t>Solid = confirmed (Exxon full-year + everyone's H1). Hatched = non-Exxon H2: don't trade the autumn spike as real.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63056"/>
            <a:ext cx="10515600" cy="21945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1">
                <a:solidFill>
                  <a:srgbClr val="595959"/>
                </a:solidFill>
                <a:latin typeface="Arial"/>
              </a:rPr>
              <a:t>Day-weighted offline (a unit down part of a month counts only its days down), each unit once per month. Non-Exxon H2 2027 is a floor that fills 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0" i="0">
                <a:solidFill>
                  <a:srgbClr val="C00000"/>
                </a:solidFill>
                <a:latin typeface="Arial"/>
              </a:rPr>
              <a:t>What's Driving the Numbers: the Biggest Outages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Each bar is one unit's nameplate offline (kbd) in 2027, colored by PADD (region)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82512"/>
            <a:ext cx="2743200" cy="29260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Arial"/>
              </a:rPr>
              <a:t>Products 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pic>
        <p:nvPicPr>
          <p:cNvPr id="6" name="Picture 5" descr="biggest_ou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093" y="1188720"/>
            <a:ext cx="7049493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1371600"/>
            <a:ext cx="32918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Arial"/>
              </a:rPr>
              <a:t>Key takeaways: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1847088"/>
            <a:ext cx="82296" cy="82296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87968" y="1783080"/>
            <a:ext cx="3090672" cy="80467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62B33"/>
                </a:solidFill>
                <a:latin typeface="Arial"/>
              </a:rPr>
              <a:t>Big tonnage sits in PADD 3: that's where one outage moves USGC supply and the export barrel most.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2496312"/>
            <a:ext cx="82296" cy="82296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87968" y="2432304"/>
            <a:ext cx="3090672" cy="104241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62B33"/>
                </a:solidFill>
                <a:latin typeface="Arial"/>
              </a:rPr>
              <a:t>Biggest: Garyville (275 kbd), Cherry Point (250 kbd), Joliet (250 kbd). Mostly crude (CDU); one CDU down cuts the whole site's run.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3313176"/>
            <a:ext cx="82296" cy="82296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87968" y="3249168"/>
            <a:ext cx="3090672" cy="80467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62B33"/>
                </a:solidFill>
                <a:latin typeface="Arial"/>
              </a:rPr>
              <a:t>Read each bar alone: individual units, never added. Biggest single outage ~275 kbd, not a summed total.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3962400"/>
            <a:ext cx="82296" cy="82296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87968" y="3898392"/>
            <a:ext cx="3090672" cy="56692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62B33"/>
                </a:solidFill>
                <a:latin typeface="Arial"/>
              </a:rPr>
              <a:t>Hatched = non-Exxon H2: still being booked, an indicative floor, not confirmed.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63056"/>
            <a:ext cx="10515600" cy="21945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1">
                <a:solidFill>
                  <a:srgbClr val="595959"/>
                </a:solidFill>
                <a:latin typeface="Arial"/>
              </a:rPr>
              <a:t>Per-unit nameplate offline, the 12 biggest focus-unit outages of 2027. Color = PADD region; hatched = non-Exxon H2 (indicative).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0" i="0">
                <a:solidFill>
                  <a:srgbClr val="C00000"/>
                </a:solidFill>
                <a:latin typeface="Arial"/>
              </a:rPr>
              <a:t>H1 Planned Outages per Unit &amp; Month: 2025 / 2026 / 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Like-for-like Jan-Jun planned offline, by unit and month (2027 confirmed through H1)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82512"/>
            <a:ext cx="2743200" cy="29260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Arial"/>
              </a:rPr>
              <a:t>Products 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3</a:t>
            </a:r>
          </a:p>
        </p:txBody>
      </p:sp>
      <p:pic>
        <p:nvPicPr>
          <p:cNvPr id="6" name="Picture 5" descr="h1_month_by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06008"/>
            <a:ext cx="8138160" cy="46117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1371600"/>
            <a:ext cx="32918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Arial"/>
              </a:rPr>
              <a:t>Key takeaways: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1847088"/>
            <a:ext cx="82296" cy="82296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87968" y="1783080"/>
            <a:ext cx="3090672" cy="80467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62B33"/>
                </a:solidFill>
                <a:latin typeface="Arial"/>
              </a:rPr>
              <a:t>H1 is the only honest cross-year read: 2027 is booked through June; H2 is still being scheduled.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2496312"/>
            <a:ext cx="82296" cy="82296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87968" y="2432304"/>
            <a:ext cx="3090672" cy="80467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62B33"/>
                </a:solidFill>
                <a:latin typeface="Arial"/>
              </a:rPr>
              <a:t>2027 runs heavier than 2025 and 2026 in most H1 months: the orange bar stands tallest.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3145536"/>
            <a:ext cx="82296" cy="82296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87968" y="3081528"/>
            <a:ext cx="3090672" cy="80467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62B33"/>
                </a:solidFill>
                <a:latin typeface="Arial"/>
              </a:rPr>
              <a:t>Crude (CDU) averages ~548 kbd vs ~325 (2026), ~393 (2025); crests in Mar (~1,063 kbd).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3794760"/>
            <a:ext cx="82296" cy="82296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87968" y="3730752"/>
            <a:ext cx="3090672" cy="80467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62B33"/>
                </a:solidFill>
                <a:latin typeface="Arial"/>
              </a:rPr>
              <a:t>Heavier spring = tighter product supply. Read each unit and month on its own, never added.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63056"/>
            <a:ext cx="10515600" cy="21945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1">
                <a:solidFill>
                  <a:srgbClr val="595959"/>
                </a:solidFill>
                <a:latin typeface="Arial"/>
              </a:rPr>
              <a:t>Day-weighted capacity offline by month, planned only, each unit once per month. Per-panel y-axis. 2025/26 actuals; 2027 the booked plan.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0" i="0">
                <a:solidFill>
                  <a:srgbClr val="C00000"/>
                </a:solidFill>
                <a:latin typeface="Arial"/>
              </a:rPr>
              <a:t>Outages by PADD by Unit: Where It Tightens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2027 crude (CDU, top) and cat-cracker (FCC, bottom) offline by region &amp;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82512"/>
            <a:ext cx="2743200" cy="29260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Arial"/>
              </a:rPr>
              <a:t>Products 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pic>
        <p:nvPicPr>
          <p:cNvPr id="6" name="Picture 5" descr="cdu_padd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456" y="1234440"/>
            <a:ext cx="4284608" cy="2331720"/>
          </a:xfrm>
          <a:prstGeom prst="rect">
            <a:avLst/>
          </a:prstGeom>
        </p:spPr>
      </p:pic>
      <p:pic>
        <p:nvPicPr>
          <p:cNvPr id="7" name="Picture 6" descr="fcc_padd_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392" y="3703320"/>
            <a:ext cx="4278735" cy="2331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52360" y="1371600"/>
            <a:ext cx="44348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F3864"/>
                </a:solidFill>
                <a:latin typeface="Arial"/>
              </a:rPr>
              <a:t>Key takeaways: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847088"/>
            <a:ext cx="82296" cy="82296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8" y="1783080"/>
            <a:ext cx="4233672" cy="80467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2B33"/>
                </a:solidFill>
                <a:latin typeface="Arial"/>
              </a:rPr>
              <a:t>PADD 3 (Gulf) is the swing region: most crude and FCC work lands there, tightening USGC supply and the export barrel.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2542032"/>
            <a:ext cx="82296" cy="82296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2478024"/>
            <a:ext cx="4233672" cy="80467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2B33"/>
                </a:solidFill>
                <a:latin typeface="Arial"/>
              </a:rPr>
              <a:t>PADD 2 (Midwest) carries the spring crude (Joliet). PADD 5 (West) is islanded: a California outage isn't bailed out by other regions.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3236976"/>
            <a:ext cx="82296" cy="82296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53528" y="3172968"/>
            <a:ext cx="4233672" cy="56692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2B33"/>
                </a:solidFill>
                <a:latin typeface="Arial"/>
              </a:rPr>
              <a:t>Windows are spring (Mar-May) and autumn (Sep-Oct); summer is protected for driving-season gasoline.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3803904"/>
            <a:ext cx="82296" cy="82296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53528" y="3739896"/>
            <a:ext cx="4233672" cy="80467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2B33"/>
                </a:solidFill>
                <a:latin typeface="Arial"/>
              </a:rPr>
              <a:t>Past the dotted line (H2) is non-Exxon, unconfirmed: those autumn bars are a floor that grows as operators book.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63056"/>
            <a:ext cx="10515600" cy="21945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1">
                <a:solidFill>
                  <a:srgbClr val="595959"/>
                </a:solidFill>
                <a:latin typeface="Arial"/>
              </a:rPr>
              <a:t>Day-weighted concurrent capacity offline by month, stacked by PADD. P1 NE, P2 Midwest, P3 Gulf, P4 Rockies, P5 West.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0" i="0">
                <a:solidFill>
                  <a:srgbClr val="C00000"/>
                </a:solidFill>
                <a:latin typeface="Arial"/>
              </a:rPr>
              <a:t>ExxonMobil 2027 by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Each unit's turnaround as its own bar, nameplate capacity offline (kbd)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82512"/>
            <a:ext cx="2743200" cy="29260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Arial"/>
              </a:rPr>
              <a:t>Products 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5</a:t>
            </a:r>
          </a:p>
        </p:txBody>
      </p:sp>
      <p:pic>
        <p:nvPicPr>
          <p:cNvPr id="6" name="Picture 5" descr="exxon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03405"/>
            <a:ext cx="8138160" cy="4416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1371600"/>
            <a:ext cx="32918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Arial"/>
              </a:rPr>
              <a:t>Key takeaways: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1847088"/>
            <a:ext cx="82296" cy="82296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87968" y="1783080"/>
            <a:ext cx="3090672" cy="80467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62B33"/>
                </a:solidFill>
                <a:latin typeface="Arial"/>
              </a:rPr>
              <a:t>ExxonMobil is the only operator with a full-year 2027 plan, so its H2 is the only confirmed H2. Everyone else is H1-only.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2496312"/>
            <a:ext cx="82296" cy="82296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87968" y="2432304"/>
            <a:ext cx="3090672" cy="104241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62B33"/>
                </a:solidFill>
                <a:latin typeface="Arial"/>
              </a:rPr>
              <a:t>Per unit, never summed: the 'Exxon ~700 kbd' figure was 8 Joliet units in one April turnaround added together. It's really ~250 kbd of crude.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3313176"/>
            <a:ext cx="82296" cy="82296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87968" y="3249168"/>
            <a:ext cx="3090672" cy="104241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62B33"/>
                </a:solidFill>
                <a:latin typeface="Arial"/>
              </a:rPr>
              <a:t>Reconciled to Exxon's own corporate plan (7 units): Baytown &amp; Beaumont FCC in Q1, Joliet crude Apr-May, Baton Rouge crude in autumn.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163056"/>
            <a:ext cx="10515600" cy="21945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1">
                <a:solidFill>
                  <a:srgbClr val="595959"/>
                </a:solidFill>
                <a:latin typeface="Arial"/>
              </a:rPr>
              <a:t>Cross-checked against ExxonMobil's corporate turnaround plan; match = same refinery + unit class, overlapping months.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0" i="0">
                <a:solidFill>
                  <a:srgbClr val="C00000"/>
                </a:solidFill>
                <a:latin typeface="Arial"/>
              </a:rPr>
              <a:t>2027 Unplanned Scenario: the Risk on Top of Planned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Potential unplanned offline (kbd) modeled on the 2023-26 seasonal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82512"/>
            <a:ext cx="2743200" cy="29260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Arial"/>
              </a:rPr>
              <a:t>Products 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pic>
        <p:nvPicPr>
          <p:cNvPr id="6" name="Picture 5" descr="f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190" y="1234440"/>
            <a:ext cx="5043140" cy="2331720"/>
          </a:xfrm>
          <a:prstGeom prst="rect">
            <a:avLst/>
          </a:prstGeom>
        </p:spPr>
      </p:pic>
      <p:pic>
        <p:nvPicPr>
          <p:cNvPr id="7" name="Picture 6" descr="scenario_to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35" y="3703320"/>
            <a:ext cx="6553650" cy="2331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52360" y="1371600"/>
            <a:ext cx="44348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F3864"/>
                </a:solidFill>
                <a:latin typeface="Arial"/>
              </a:rPr>
              <a:t>Key takeaways: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847088"/>
            <a:ext cx="82296" cy="82296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8" y="1783080"/>
            <a:ext cx="4233672" cy="56692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2B33"/>
                </a:solidFill>
                <a:latin typeface="Arial"/>
              </a:rPr>
              <a:t>2027 has no actual unplanned yet: this is the risk range on top of the booked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2414016"/>
            <a:ext cx="82296" cy="82296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2350008"/>
            <a:ext cx="4233672" cy="80467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2B33"/>
                </a:solidFill>
                <a:latin typeface="Arial"/>
              </a:rPr>
              <a:t>Average ~13,046 kbd unplanned; Conservative ~10,437 (calm year), Active ~16,959 (heavy). Booked planned is ~15,691 kbd.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3108960"/>
            <a:ext cx="82296" cy="82296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53528" y="3044952"/>
            <a:ext cx="4233672" cy="56692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2B33"/>
                </a:solidFill>
                <a:latin typeface="Arial"/>
              </a:rPr>
              <a:t>Implied total ~26,127 / ~28,737 / ~32,650 kbd (Conservative / Average / Active).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3675888"/>
            <a:ext cx="82296" cy="82296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53528" y="3611880"/>
            <a:ext cx="4233672" cy="56692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2B33"/>
                </a:solidFill>
                <a:latin typeface="Arial"/>
              </a:rPr>
              <a:t>Risk peaks in Feb (winter freeze) and Sep-Oct (turnaround overlap); summer is the trough.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4242816"/>
            <a:ext cx="82296" cy="82296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53528" y="4178808"/>
            <a:ext cx="4233672" cy="56692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2B33"/>
                </a:solidFill>
                <a:latin typeface="Arial"/>
              </a:rPr>
              <a:t>Trade it: Active = stress case for supply tightness; Conservative = the floor.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63056"/>
            <a:ext cx="10515600" cy="21945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1">
                <a:solidFill>
                  <a:srgbClr val="595959"/>
                </a:solidFill>
                <a:latin typeface="Arial"/>
              </a:rPr>
              <a:t>Scenario = mean 2023-26 monthly unplanned shape (completeness-aware) x {0.8 / 1.0 / 1.3}. A risk range, not a forecast.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