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-- the gasoline and distillate read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654" y="1234440"/>
            <a:ext cx="8274211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(a unit down part of a month counts only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Numbers: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895" y="1234440"/>
            <a:ext cx="691973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Month-over-Month: What Changed and What's Driving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Change in capacity offline, Jul 2026 vs Jun 2026, by region (left) and focus unit (right)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mom_mo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68979"/>
            <a:ext cx="11247120" cy="40858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less month-on-month: ~1,075 kbd in Jul 2026 vs ~1,350 in Jun 2026 (-275 kbd). Biggest swing by region P3, by unit FCC. Green = more offline this month, red = less. Read each unit on its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&amp; Month: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by unit and month (2027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h1_month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387" y="1234440"/>
            <a:ext cx="8390746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capacity offline by month, planned only, each unit once per month. Per-panel y-axis. 2025/26 actuals; 2027 the booked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Gasoline Complex: Crude (CDU) + Cat Cracker (FCC)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left) and cat-cracker (FCC, right) offline by region &amp; month -- the gasoline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07042"/>
            <a:ext cx="5897880" cy="3209676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04839"/>
            <a:ext cx="5897880" cy="32140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offline by month, stacked by PADD. The FCC makes cat gasoline; a CDU outage cuts the whole barrel, gasoline included. P3 (Gulf) is the swing region; P2 (Midwest) carries the spring crude; P5 (West) is islanded. Past the dotted line = non-Exxon H2 (a floor that grows as operators book).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Distillate Complex: Crude (CDU) + Hydrocracker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left) and hydrocracker (right) offline by region &amp; month -- the diesel/jet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07042"/>
            <a:ext cx="5897880" cy="3209676"/>
          </a:xfrm>
          <a:prstGeom prst="rect">
            <a:avLst/>
          </a:prstGeom>
        </p:spPr>
      </p:pic>
      <p:pic>
        <p:nvPicPr>
          <p:cNvPr id="7" name="Picture 6" descr="hcu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04839"/>
            <a:ext cx="5897880" cy="32140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offline by month, stacked by PADD. The hydrocracker makes diesel and jet; the same CDU outage that cuts gasoline cuts distillate too (the whole barrel is down). P3 (Gulf) and P2 (Midwest) carry the hydrocracker work. Past the dotted line = non-Exxon H2 (indicative).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in recent years, to ground the 2027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136" y="1234440"/>
            <a:ext cx="991924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Scenario: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 per month) modeled on the 2023-26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34" y="1234440"/>
            <a:ext cx="10284052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2023-26 monthly unplanned shape (completeness-aware) x {0.8 / 1.0 / 1.3}. Monthly concurrent offline, a risk range, not a forecast. Not an annual sum.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 It Means for the Market: Gasoline &amp; Distillate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Spring crude turnarounds tighten both pools -- summer gasoline and a thin distillate cushion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market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9" y="1234440"/>
            <a:ext cx="9540982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Gasoline-complex (CDU + FCC + reformer) offline by month vs the summer-grade switchover. U.S. stocks below the 5-yr average on both sides: gasoline -5%, distillate -10%, crude -7% (EIA WPSR, week ending Jun 19, 2026). Spring CDU turnarounds cut crude -- so gasoline and distillate both -- with the FCC tightening summer gasoline and the hydrocracker tightening diesel/jet.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