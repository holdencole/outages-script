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Refinery Capacity Offline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by Unit - 2027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13232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D6E0F0"/>
                </a:solidFill>
                <a:latin typeface="Arial"/>
              </a:rPr>
              <a:t>Per-unit capacity offline (kbd): CDU - FCC - hydrocracker - reformer   |   2021-2027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corporate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Read Capacity Offline Per Unit - Not as One Big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Why a single summed 'offline' figure misleads, and how this deck reports instead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joliet_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8160"/>
            <a:ext cx="6766560" cy="334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 single turnaround takes many units down at once. Summing them is meaningless: Joliet's one April-2027 event adds to ~715 kbd at a refinery that runs ~250 kbd of crude.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7249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66090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The honest read is per unit: ~250 kbd of crude (CDU) offline, with the FCC, coker and hydrotreaters shown separately - never added together.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1985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35584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So this deck reports the four units that matter, in priority order: CDU -&gt; FCC -&gt; hydrocracker -&gt; reformer.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4050792"/>
            <a:ext cx="4233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Every figure is concurrent capacity offline by month - a unit down Apr-May is counted once at its nameplate, never stacked across months or across unit types.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992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92861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ExxonMobil's 2027 records are cross-checked unit-by-unit against Exxon's own corporate TA plan: 5 confirmed, 2 flagged as not-in-plan.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568756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562356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Margin / $-at-risk estimates are intentionally excluded - this is physical capacity offline only.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offline = for each month, each distinct unit's nameplate capacity counted once (deduped by plant+unit). History shown from 2021.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2027 - What's Confirmed vs Still Being Booked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month: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2801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Only ExxonMobil gave a full-year 2027 plan - and we verified it against their own corporate turnaround schedule. For every other operator, only H1 (Jan-Jun) 2027 is booked.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83159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76758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 in H2, the solid bars are ExxonMobil alone; the hatched H2 is other operators' work still being scheduled - a floor that fills in, not a confirmed number.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64845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58444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peak concurrent offline (all in H1): CDU ~1,960 kbd, FCC ~642, hydrocracker ~147, reformer ~235.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429768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423367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apparent autumn CDU spike is almost entirely unconfirmed non-Exxon H2 - don't read it as a booked surge.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4946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4882896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Bottom line: compare 2027 H1 like-for-like vs prior years; read H2 as Exxon-confirmed plus an open book.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Confirmed = ExxonMobil (any month, plan-verified) + all operators' H1. The Joliet Sep-Oct 'Crude' duplicate and the 2027 Joliet FCC (the plan books it 2026/2030) are excluded.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Capacity Offline by Unit &amp; Month, 2021-2027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Concurrent capacity offline (kbd) for each focus unit - the per-unit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focus_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5949"/>
            <a:ext cx="8138160" cy="46118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(CDU+VDU) dominates: peak concurrent ~5,336 kbd offline in 2025, vs FCC ~1,625, hydrocracker ~530, reformer ~753.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Each unit carries a clear spring (Mar-May) and autumn (Sep-Oct) turnaround window every year.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1455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08152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2021 stands out across every unit - Winter Storm Uri (Feb) - 13,147 kbd of crude offline at the peak; it's the floor year of this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FCC, hydrocracker and reformer are smaller in kbd but gasoline-octane-critical: their loss squeezes blending even when crude runs hold.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477926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4715256"/>
            <a:ext cx="3090672" cy="12801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2026-27 are partial / booked-only; for 2027, only ExxonMobil is full-year - all other operators are H1-confirmed (so the 2027 H2 cells are an incomplete, non-Exxon floor).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Read each panel left-to-right as a month-by-month timeline; cells are kbd of that unit class concurrently offline. Never sum across panels. 2027 H2 (non-Exxon) is not yet confirmed.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Crude / Distillation (CDU+VDU) - Capacity Offline by Month &amp;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Concurrent capacity offline (kbd); booked-only beyond H1-2027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14" y="1234440"/>
            <a:ext cx="3895092" cy="2331720"/>
          </a:xfrm>
          <a:prstGeom prst="rect">
            <a:avLst/>
          </a:prstGeom>
        </p:spPr>
      </p:pic>
      <p:pic>
        <p:nvPicPr>
          <p:cNvPr id="7" name="Picture 6" descr="cdu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754" y="3703320"/>
            <a:ext cx="429001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Peak concurrent CDU offline: ~5,336 kbd (2025), ~4,214 (2026), ~2,702 booked (2027).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Crude is the #1 unit to watch - when the CDU is down, the whole refinery's throughput is cut.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91693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PADD, the 2027 crude book concentrates on the Gulf Coast (PADD 3) in autumn and PADD 2 in spring (the Joliet event).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Largest booked 2027 crude turnarounds: Port Arthur (Motiva) ~350, Garyville ~275, Joliet ~250 kbd.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Spring and autumn are the windows; the summer trough is when crude runs are protected for driving-season gasoline.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Crude = atmospheric (CDU) + vacuum (VDU) distillation. 2027 is planned-only; H2 books continue to fill 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FCC (cat cracker) - Capacity Offline by Month &amp;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Concurrent capacity offline (kbd); booked-only beyond H1-2027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c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47" y="1234440"/>
            <a:ext cx="3892425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Peak concurrent FCC offline: ~1,625 kbd (2025), ~1,010 (2026), ~642 booked (2027).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(cat cracker) is the most gasoline-relevant unit loss (~0.65 mogas yield) - octane and blending risk stack when it's 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Largest booked 2027 FCC turnarounds: Baytown ~125, Beaumont ~120, Catlettsburg 2 - North ~98 kbd - concentrated in Q1 (Beaumont, Baytown Fuels South).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turnarounds recur in adjacent months at the same plants - a back-to-back pattern that month-aggregated trackers smooth away.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49884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43484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(PADD 3) again leads the FCC slate; watch the spring overlap with crude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FCC offline shown concurrent by month; a plant's FCC counted once per month at nameplate.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Hydrocracker &amp; Reformer - Capacity Offline by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The octane/distillate complex: smaller in kbd, but gasoline-quality critical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hd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0440"/>
            <a:ext cx="5852160" cy="3505680"/>
          </a:xfrm>
          <a:prstGeom prst="rect">
            <a:avLst/>
          </a:prstGeom>
        </p:spPr>
      </p:pic>
      <p:pic>
        <p:nvPicPr>
          <p:cNvPr id="7" name="Picture 6" descr="ref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30440"/>
            <a:ext cx="5852160" cy="350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756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623560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Hydrocracker peak concurrent offline ~530 kbd (2025) -&gt; ~147 booked 2027; reformer ~753 -&gt; ~235.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0015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937504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Hydrocracker = HYDROCRACKING only (distinct from diesel hydrotreating); reformer makes the high-octane reformate that backstops gasoline blending.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31545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6251448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Both are lower-volume than CDU/FCC but their loss tightens octane and distillate quality - a read CDU-only trackers miss.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(kbd) by month, 2021-2027; 2026-27 partial / booked-only.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Unit, Verified vs Corporate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focus-unit turnaround as its own bar; red-hatched = no match in Exxon's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2804"/>
            <a:ext cx="8138160" cy="35781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turnarounds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Shown per unit, never summed: each bar is one unit's nameplate offline over its window - no meaningless Exxon 'total'.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against Exxon's corporate plan (5 focus-unit events): Baytown &amp; Beaumont FCC in Q1, Joliet crude+vacuum Apr-May, Baton Rouge PSLA-9 crude in autumn.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4130040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9448" y="4066032"/>
            <a:ext cx="267919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Flagged: Joliet Crude (~230 kbd, Sep-Oct) - plan has CDU at Joliet but in month(s) [4, 5] not [9, 10] - check dating.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471068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9448" y="4646676"/>
            <a:ext cx="267919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Flagged: Joliet FCCU (~98 kbd, Apr-May) - no FCC outage at Joliet in the 2027 corporate plan - likely phantom / duplicate.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529132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87968" y="522732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Joliet 'Crude' in Sep-Oct is the '700 kbd' culprit: a duplicate of the real April crude TA. Exxon's only Sep-2027 Joliet event is FT Cogen (a utility).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data/exxon_ta_plan.csv (vendored from the AMR Turnaround Schedule). Match = same refinery + unit class overlapping the same months.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Largest 2027 Turnarounds by Unit - CDU / FCC / HC / Reformer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turnarounds by unit - nameplate capacity offline,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1338560" cy="42245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6000"/>
                <a:gridCol w="2286000"/>
                <a:gridCol w="731520"/>
                <a:gridCol w="2468880"/>
                <a:gridCol w="1188720"/>
                <a:gridCol w="868680"/>
                <a:gridCol w="1508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Operator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Window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(Motiva)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VPS 5 (Vacuum Pipe Still)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9/3/27-10/7/27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210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1/15/27-2/4/27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4/5/27-5/13/27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Cherry Point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Bp Products North America 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3/12/27-3/26/27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10/1/27-10/30/27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Norco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Shell Oil Products Us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DU-5 (Distilling Unit) (Sweet)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10/2/27-11/20/27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(Motiva)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VPS 4 (Vacuum Pipe Still)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9/17/27-10/31/27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Distillation 111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4/9/27-5/18/27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(PBF)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Refining Company 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DH Crude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1/15/27-3/6/27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10 A-Train/Sour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9/3/27-11/1/27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Crude 10 B-Train Sour/Sweet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9/3/27-11/1/27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Vacuum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CDU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4/5/27-5/13/27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Baytown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FCCU 3 (Fuels East)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FCC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2/22/27-4/13/27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Beaumont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FCCU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FCC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1/7/27-2/21/27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One row per physical unit (deduped to peak nameplate offline), focus units only, all PADDs. ExxonMobil rows are full-year plan-verified; non-Exxon H2 rows are not yet confirmed. Excludes the verified-bad Joliet Sep-Oct crude &amp; 2027 FCC.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