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-- the gasoline and distillate read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3" y="1188720"/>
            <a:ext cx="795597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967" y="1188720"/>
            <a:ext cx="665358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Month-over-Month: What Changed and What's Driving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Change in capacity offline, Jul 2026 vs Jun 2026, by region (left) and focus unit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mom_mo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1819"/>
            <a:ext cx="11247120" cy="40858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less month-on-month: ~1,075 kbd in Jul 2026 vs ~1,350 in Jun 2026 (-275 kbd). Biggest swing by region P3, by unit FCC. Green = more offline this month, red = less. Read each unit on its own.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747" y="1188720"/>
            <a:ext cx="806802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Relatives: 2027 vs Prior Years, and Tied vs Standalone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H1 planned offline % change by unit (left); share of downstream offline tied to a crude turnaround vs standalone (right)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relatives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0575"/>
            <a:ext cx="5632704" cy="2659730"/>
          </a:xfrm>
          <a:prstGeom prst="rect">
            <a:avLst/>
          </a:prstGeom>
        </p:spPr>
      </p:pic>
      <p:pic>
        <p:nvPicPr>
          <p:cNvPr id="7" name="Picture 6" descr="tied_standal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429490"/>
            <a:ext cx="5632704" cy="21818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Left: H1 like-for-like, 2027 vs the prior two years -- the cat cracker leads (+66% vs 2026), the reformer beats last year but trails 2025. Right: standalone = the unit is down while crude keeps running (the cleaner product signal); the reformer is mostly tied to crude TAs, the hydrocracker mostly standalone.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Gasoline Complex: Crude (CDU) + Cat Cracker (FCC)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 -- the gasoline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7757"/>
            <a:ext cx="5632704" cy="3065365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FCC makes cat gasoline; a CDU outage cuts the whole barrel, gasoline included. P3 (Gulf) is the swing region; P2 (Midwest) carries the spring crude; P5 (West) is islanded. Past the dotted line = non-Exxon H2 (a floor that grows as operators book).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Distillate Complex: Crude (CDU) + Hydrocracker by PADD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hydrocracker (right) offline by region &amp; month -- the diesel/jet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7757"/>
            <a:ext cx="5632704" cy="3065365"/>
          </a:xfrm>
          <a:prstGeom prst="rect">
            <a:avLst/>
          </a:prstGeom>
        </p:spPr>
      </p:pic>
      <p:pic>
        <p:nvPicPr>
          <p:cNvPr id="7" name="Picture 6" descr="hcu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985654"/>
            <a:ext cx="5632704" cy="3069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offline by month, stacked by PADD. The hydrocracker makes diesel and jet; the same CDU outage that cuts gasoline cuts distillate too (the whole barrel is down). P3 (Gulf) and P2 (Midwest) carry the hydrocracker work. Past the dotted line = non-Exxon H2 (indicative).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891" y="1188720"/>
            <a:ext cx="95377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04" y="1188720"/>
            <a:ext cx="988851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 It Means for the Market: Gasoline &amp; Distillate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Spring crude turnarounds tighten both pools -- summer gasoline and a thin distillate cushion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37960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47104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market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749" y="1188720"/>
            <a:ext cx="917402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88736"/>
            <a:ext cx="1124712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Gasoline-complex (CDU + FCC + reformer) offline by month vs the summer-grade switchover. U.S. stocks below the 5-yr average on both sides: gasoline -5%, distillate -10%, crude -7% (EIA WPSR, week ending Jun 19, 2026). Spring CDU turnarounds cut crude -- so gasoline and distillate both -- with the FCC tightening summer gasoline and the hydrocracker tightening diesel/jet.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