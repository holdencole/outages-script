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89520" y="0"/>
            <a:ext cx="4602175" cy="6858000"/>
          </a:xfrm>
          <a:prstGeom prst="rect">
            <a:avLst/>
          </a:prstGeom>
          <a:solidFill>
            <a:srgbClr val="244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90956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32104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3252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55548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78992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20140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61288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0956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32104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73252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55548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37844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78992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20140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61288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90956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2104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73252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14400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55548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96696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37844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8992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20140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1288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90956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32104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73252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4400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55548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96696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37844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78992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20140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61288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90956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32104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73252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14400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55548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6696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37844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78992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20140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61288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90956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32104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73252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914400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55548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996696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037844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078992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120140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61288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90956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32104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73252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914400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955548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96696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037844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078992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120140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161288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90956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32104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73252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14400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55548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96696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037844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078992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120140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161288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790956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832104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73252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14400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55548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996696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037844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078992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120140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161288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790956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832104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873252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914400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955548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996696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037844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078992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120140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61288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90956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32104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873252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914400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955548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996696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037844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078992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120140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161288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790956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32104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73252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914400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955548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996696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037844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78992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120140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161288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790956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32104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73252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14400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955548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996696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037844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078992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120140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161288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790956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832104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873252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14400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55548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96696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037844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078992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120140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161288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640080" y="457200"/>
            <a:ext cx="548640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D6E0F0"/>
                </a:solidFill>
                <a:latin typeface="Arial"/>
              </a:rPr>
              <a:t>June 26th, 2026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58368" y="950976"/>
            <a:ext cx="6035040" cy="15240"/>
          </a:xfrm>
          <a:prstGeom prst="rect">
            <a:avLst/>
          </a:prstGeom>
          <a:solidFill>
            <a:srgbClr val="4A6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229600" y="411480"/>
            <a:ext cx="3474720" cy="45720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Products Trading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40080" y="2651760"/>
            <a:ext cx="694944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0" i="0">
                <a:solidFill>
                  <a:srgbClr val="D6E0F0"/>
                </a:solidFill>
                <a:latin typeface="Arial"/>
              </a:rPr>
              <a:t>Products Trading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21792" y="3108960"/>
            <a:ext cx="7315200" cy="15544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Refinery Outages</a:t>
            </a:r>
          </a:p>
          <a:p>
            <a:pPr algn="l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2027 Outlook by Unit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658368" y="4892040"/>
            <a:ext cx="2560320" cy="3175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58368" y="5074920"/>
            <a:ext cx="7223760" cy="8229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D6E0F0"/>
                </a:solidFill>
                <a:latin typeface="Arial"/>
              </a:rPr>
              <a:t>Capacity offline by unit, region &amp; operator, and what it tightens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B6DB"/>
                </a:solidFill>
                <a:latin typeface="Arial"/>
              </a:rPr>
              <a:t>2027: ExxonMobil full-year (verified vs their plan); all other operators H1-confirmed only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332720" y="6400800"/>
            <a:ext cx="16916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D6E0F0"/>
                </a:solidFill>
                <a:latin typeface="Arial"/>
              </a:rPr>
              <a:t>PROPRIETARY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Total 2027 Outages by Unit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Capacity offline by unit &amp; month; solid = confirmed, hatched = non-Exxon H2 (not yet booked)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1</a:t>
            </a:r>
          </a:p>
        </p:txBody>
      </p:sp>
      <p:pic>
        <p:nvPicPr>
          <p:cNvPr id="6" name="Picture 5" descr="splits_2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3654" y="1234440"/>
            <a:ext cx="8274211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Day-weighted offline (a unit down part of a month counts only its days down), each unit once per month. Non-Exxon H2 2027 is a floor that fills 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What's Driving the Numbers: the Biggest Outages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Each bar is one unit's nameplate offline (kbd) in 2027, colored by PADD (region)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pic>
        <p:nvPicPr>
          <p:cNvPr id="6" name="Picture 5" descr="biggest_ou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0895" y="1234440"/>
            <a:ext cx="6919730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Per-unit nameplate offline, the 12 biggest focus-unit outages of 2027. Color = PADD region; hatched = non-Exxon H2 (indicative).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H1 Planned Outages per Unit &amp; Month: 2025 / 2026 / 2027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Like-for-like Jan-Jun planned offline, by unit and month (2027 confirmed through H1)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3</a:t>
            </a:r>
          </a:p>
        </p:txBody>
      </p:sp>
      <p:pic>
        <p:nvPicPr>
          <p:cNvPr id="6" name="Picture 5" descr="h1_month_by_un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5387" y="1234440"/>
            <a:ext cx="8390746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Day-weighted capacity offline by month, planned only, each unit once per month. Per-panel y-axis. 2025/26 actuals; 2027 the booked plan.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Outages by PADD by Unit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2027 crude (CDU, left) and cat-cracker (FCC, right) offline by region &amp; month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pic>
        <p:nvPicPr>
          <p:cNvPr id="6" name="Picture 5" descr="cdu_padd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007042"/>
            <a:ext cx="5897880" cy="3209676"/>
          </a:xfrm>
          <a:prstGeom prst="rect">
            <a:avLst/>
          </a:prstGeom>
        </p:spPr>
      </p:pic>
      <p:pic>
        <p:nvPicPr>
          <p:cNvPr id="7" name="Picture 6" descr="fcc_padd_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004839"/>
            <a:ext cx="5897880" cy="32140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Day-weighted concurrent capacity offline by month, stacked by PADD. P1 NE, P2 Midwest, P3 Gulf, P4 Rockies, P5 West.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Naphtha Balance: CDU Supply vs Reformer Demand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2027 outages read as naphtha length. CDU makes naphtha; reformers consume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5</a:t>
            </a:r>
          </a:p>
        </p:txBody>
      </p:sp>
      <p:pic>
        <p:nvPicPr>
          <p:cNvPr id="6" name="Picture 5" descr="naphtha_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2508" y="1234440"/>
            <a:ext cx="9836504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Net = reformer offline x 1 (demand) minus CDU offline x 0.35 (supply), day-weighted. + surplus / - deficit. H2 non-Exxon is indicative.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Unplanned Offline: 2024-2026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What unplanned actually looked like in recent years, to ground the 2027 scenario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6</a:t>
            </a:r>
          </a:p>
        </p:txBody>
      </p:sp>
      <p:pic>
        <p:nvPicPr>
          <p:cNvPr id="6" name="Picture 5" descr="unplanned_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136" y="1234440"/>
            <a:ext cx="9919248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Actual unplanned capacity offline by month, day-weighted. 2026 reported through June.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2027 Unplanned Scenario: the Risk on Top of Planned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Potential unplanned offline (kbd per month) modeled on the 2023-26 seasonal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7</a:t>
            </a:r>
          </a:p>
        </p:txBody>
      </p:sp>
      <p:pic>
        <p:nvPicPr>
          <p:cNvPr id="6" name="Picture 5" descr="f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734" y="1234440"/>
            <a:ext cx="10284052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Scenario = mean 2023-26 monthly unplanned shape (completeness-aware) x {0.8 / 1.0 / 1.3}. Monthly concurrent offline, a risk range, not a forecast. Not an annual sum.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