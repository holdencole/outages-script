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26th,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Rest of 26: Naphtha, Reformers &amp; Chem Feed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686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The octane and petrochemical-feedstock read: reformers and the naphtha complex, not just crude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2026 H1 is actual; H2 is the booked plan still to come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Rest of 2026 Outages by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H1 actual, hatched = H2 booked plan (still to come)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cy_spl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654" y="1234440"/>
            <a:ext cx="8274211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offline (a unit down part of a month counts only its days down), each unit once per month. H1 reported; H2 is the booked plan. Reformer H2 booked ~388 kbd.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It: the Biggest 2026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bar is one unit's nameplate offline (kbd) in 2026, colored by PADD (region)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biggest_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100" y="1234440"/>
            <a:ext cx="7069319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offline, the 12 biggest focus-unit outages of 2026. Color = PADD region. Biggest reformers: Galveston Bay (GBR) (78), Galveston Bay (GBR) (78), Galveston Bay (GBR) (65) kbd.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Reformers: the Octane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2026 catalytic-reformer capacity offline by month &amp; PADD, with reformate (octane) lost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reformer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946" y="1234440"/>
            <a:ext cx="9823628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Reformers run naphtha -&gt; reformate (the octane in gasoline). ~1,423 kbd of reformer offline over 2026 = ~1,209 kbd of reformate (octane) not made. Dashed line is 2025 for context; past the dotted line is H2 (booked).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Naphtha Balance: CDU Supply vs Reformer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2026 outages read as naphtha length. CDU makes naphtha; reformers consume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naphtha_balance_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508" y="1234440"/>
            <a:ext cx="9836504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Net = reformer offline x 1 (demand) minus CDU offline x 0.35 (supply, ~35% of crude), day-weighted. 2026 runs a deficit (short) (net -1,119 kbd), tightest Apr/Feb; + surplus / - deficit.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Naphtha / Octane / Chem-Feed Complex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Reforming, isomerization and aromatics/BTX offline by year - the octane &amp; petrochem-feed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naphtha_compl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49" y="1234440"/>
            <a:ext cx="11044221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The naphtha/octane complex (reformer charge + steam-cracker / petrochem feed). 2026 offline ~1,562 kbd (-40% vs 2025). Reforming dominates the complex; this is the octane/chem-feed availability a CDU-only tracker misses.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Reformer &amp; Crude Outages by PADD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2026 reformer (octane, left) and crude (CDU, right)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ref_padd_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004839"/>
            <a:ext cx="5897880" cy="3214081"/>
          </a:xfrm>
          <a:prstGeom prst="rect">
            <a:avLst/>
          </a:prstGeom>
        </p:spPr>
      </p:pic>
      <p:pic>
        <p:nvPicPr>
          <p:cNvPr id="7" name="Picture 6" descr="cdu_padd_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07042"/>
            <a:ext cx="5897880" cy="32096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capacity offline by month, stacked by PADD. P1 NE, P2 Midwest, P3 Gulf, P4 Rockies, P5 West. Reformer octane and crude naphtha go down together in P3 (Gulf).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Unplanned Offline: 2024-2026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unplanned actually looked like recently, to ground the rest of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unplanned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136" y="1234440"/>
            <a:ext cx="9919248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Actual unplanned capacity offline by month, day-weighted. 2026 reported through June; the Feb-freeze and autumn-turnaround windows are the recurring risk to carry into H2.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