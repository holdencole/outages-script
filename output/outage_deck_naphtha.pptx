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0"/>
            <a:ext cx="4602175" cy="6858000"/>
          </a:xfrm>
          <a:prstGeom prst="rect">
            <a:avLst/>
          </a:prstGeom>
          <a:solidFill>
            <a:srgbClr val="244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D6E0F0"/>
                </a:solidFill>
                <a:latin typeface="Arial"/>
              </a:rPr>
              <a:t>June 26th,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950976"/>
            <a:ext cx="6035040" cy="15240"/>
          </a:xfrm>
          <a:prstGeom prst="rect">
            <a:avLst/>
          </a:prstGeom>
          <a:solidFill>
            <a:srgbClr val="4A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411480"/>
            <a:ext cx="3474720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Products Trading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694944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 i="0">
                <a:solidFill>
                  <a:srgbClr val="D6E0F0"/>
                </a:solidFill>
                <a:latin typeface="Arial"/>
              </a:rPr>
              <a:t>Products Trading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108960"/>
            <a:ext cx="7315200" cy="15544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Refinery Outages</a:t>
            </a:r>
          </a:p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Rest of 26 + 27: Naphtha, Reformers &amp; Chem Feed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892040"/>
            <a:ext cx="2560320" cy="3175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074920"/>
            <a:ext cx="7223760" cy="8686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D6E0F0"/>
                </a:solidFill>
                <a:latin typeface="Arial"/>
              </a:rPr>
              <a:t>The octane and petrochemical-feedstock read: reformers and the naphtha complex, not just crude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DB6DB"/>
                </a:solidFill>
                <a:latin typeface="Arial"/>
              </a:rPr>
              <a:t>The forward window: 2026 H1 is actual; the rest of 2026 and all of 2027 are the outlook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00800"/>
            <a:ext cx="1691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D6E0F0"/>
                </a:solidFill>
                <a:latin typeface="Arial"/>
              </a:rPr>
              <a:t>PROPRIETARY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0" i="0">
                <a:solidFill>
                  <a:srgbClr val="C00000"/>
                </a:solidFill>
                <a:latin typeface="Arial"/>
              </a:rPr>
              <a:t>The Forward Book by Unit: Rest of 2026 + 2027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Capacity offline by unit &amp; month across the forward window (2026 H1 shaded = actual)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2743200" cy="29260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Arial"/>
              </a:rPr>
              <a:t>Products 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1</a:t>
            </a:r>
          </a:p>
        </p:txBody>
      </p:sp>
      <p:pic>
        <p:nvPicPr>
          <p:cNvPr id="6" name="Picture 5" descr="focu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564" y="1188720"/>
            <a:ext cx="8088391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88736"/>
            <a:ext cx="11247120" cy="56692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1">
                <a:solidFill>
                  <a:srgbClr val="595959"/>
                </a:solidFill>
                <a:latin typeface="Arial"/>
              </a:rPr>
              <a:t>Day-weighted offline, each unit once per month. Shaded = the current year's H1 (actual, behind us); everything to the right is the forward book (rest of this year + next).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0" i="0">
                <a:solidFill>
                  <a:srgbClr val="C00000"/>
                </a:solidFill>
                <a:latin typeface="Arial"/>
              </a:rPr>
              <a:t>Relatives: Rest of 2026 &amp; 2027 H1, and Tied vs Standalone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Planned offline % change by unit (left); share tied to a crude turnaround vs standalone (right)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2743200" cy="29260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Arial"/>
              </a:rPr>
              <a:t>Products 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pic>
        <p:nvPicPr>
          <p:cNvPr id="6" name="Picture 5" descr="relative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90575"/>
            <a:ext cx="5632704" cy="2659730"/>
          </a:xfrm>
          <a:prstGeom prst="rect">
            <a:avLst/>
          </a:prstGeom>
        </p:spPr>
      </p:pic>
      <p:pic>
        <p:nvPicPr>
          <p:cNvPr id="7" name="Picture 6" descr="tied_standal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429490"/>
            <a:ext cx="5632704" cy="21818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888736"/>
            <a:ext cx="11247120" cy="56692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1">
                <a:solidFill>
                  <a:srgbClr val="595959"/>
                </a:solidFill>
                <a:latin typeface="Arial"/>
              </a:rPr>
              <a:t>Left: rest of 2026 (H2 vs the prior year) and 2027 H1 (vs prior) -- the reformer steps from -11% to +38%. Right: a standalone reformer = HVN demand off while crude keeps running (naphtha lengthens, reformate/octane tightens with no crude offset); the reformer is ~64% tied, so the standalone third is the clean octane signal.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0" i="0">
                <a:solidFill>
                  <a:srgbClr val="C00000"/>
                </a:solidFill>
                <a:latin typeface="Arial"/>
              </a:rPr>
              <a:t>HVN Balance: CDU Supply vs Reformer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Heavy virgin naphtha (the reformer feed) across 2026-2027. CDU makes it; reformers consume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2743200" cy="29260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Arial"/>
              </a:rPr>
              <a:t>Products 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3</a:t>
            </a:r>
          </a:p>
        </p:txBody>
      </p:sp>
      <p:pic>
        <p:nvPicPr>
          <p:cNvPr id="6" name="Picture 5" descr="naphtha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526" y="1188720"/>
            <a:ext cx="10520468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88736"/>
            <a:ext cx="11247120" cy="56692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1">
                <a:solidFill>
                  <a:srgbClr val="595959"/>
                </a:solidFill>
                <a:latin typeface="Arial"/>
              </a:rPr>
              <a:t>Net = reformer offline (HVN demand) minus CDU offline x 0.35 (HVN supply, ~35% of crude), day-weighted. The forward window runs short (15 of 18 months in deficit): crude turnarounds pull more HVN off than reformers free.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0" i="0">
                <a:solidFill>
                  <a:srgbClr val="C00000"/>
                </a:solidFill>
                <a:latin typeface="Arial"/>
              </a:rPr>
              <a:t>HVN Balance: PADD 3 (Gulf)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The same HVN balance, CDU &amp; reformers filtered to PADD 3 (Gulf) -- where the tightness sits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2743200" cy="29260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Arial"/>
              </a:rPr>
              <a:t>Products 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pic>
        <p:nvPicPr>
          <p:cNvPr id="6" name="Picture 5" descr="naphtha_forward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526" y="1188720"/>
            <a:ext cx="10520468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88736"/>
            <a:ext cx="11247120" cy="56692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1">
                <a:solidFill>
                  <a:srgbClr val="595959"/>
                </a:solidFill>
                <a:latin typeface="Arial"/>
              </a:rPr>
              <a:t>PADD 3 (Gulf) only -- the same supply/demand read as the prior slide, just the Gulf cut. 13 of 18 forward months in deficit; the Gulf carries ~66% of the 2027 HVN deficit.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0" i="0">
                <a:solidFill>
                  <a:srgbClr val="C00000"/>
                </a:solidFill>
                <a:latin typeface="Arial"/>
              </a:rPr>
              <a:t>Reformers: the Octane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Catalytic-reformer offline by month &amp; PADD across 2026-2027, with reformate (octane) lost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2743200" cy="29260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Arial"/>
              </a:rPr>
              <a:t>Products 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5</a:t>
            </a:r>
          </a:p>
        </p:txBody>
      </p:sp>
      <p:pic>
        <p:nvPicPr>
          <p:cNvPr id="6" name="Picture 5" descr="reform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526" y="1188720"/>
            <a:ext cx="10520468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88736"/>
            <a:ext cx="11247120" cy="56692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1">
                <a:solidFill>
                  <a:srgbClr val="595959"/>
                </a:solidFill>
                <a:latin typeface="Arial"/>
              </a:rPr>
              <a:t>Reformers run naphtha -&gt; reformate (the octane in gasoline). Over the forward window (rest of 2026 + 2027), ~1,227 kbd of reformer offline = ~1,043 kbd of reformate (octane) not made. P3 (Gulf) carries the most.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0" i="0">
                <a:solidFill>
                  <a:srgbClr val="C00000"/>
                </a:solidFill>
                <a:latin typeface="Arial"/>
              </a:rPr>
              <a:t>Naphtha / Octane / Chem-Feed Complex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Reforming, isomerization and aromatics/BTX offline by year - the octane &amp; petrochem-feed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2743200" cy="29260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Arial"/>
              </a:rPr>
              <a:t>Products 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pic>
        <p:nvPicPr>
          <p:cNvPr id="6" name="Picture 5" descr="naphtha_compl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38" y="1188720"/>
            <a:ext cx="10619443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88736"/>
            <a:ext cx="11247120" cy="56692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1">
                <a:solidFill>
                  <a:srgbClr val="595959"/>
                </a:solidFill>
                <a:latin typeface="Arial"/>
              </a:rPr>
              <a:t>The naphtha/octane complex (reformer charge + steam-cracker / petrochem feed). Offline ~1,562 kbd in 2026 and ~832 kbd booked in 2027. Reforming dominates; this is the octane/chem-feed availability a CDU-only tracker misses.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0" i="0">
                <a:solidFill>
                  <a:srgbClr val="C00000"/>
                </a:solidFill>
                <a:latin typeface="Arial"/>
              </a:rPr>
              <a:t>What's Driving It: Biggest 2026 &amp; 2027 Outages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Biggest individual focus-unit outages, 2026 (left) and 2027 (right), by PADD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2743200" cy="29260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Arial"/>
              </a:rPr>
              <a:t>Products 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400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7</a:t>
            </a:r>
          </a:p>
        </p:txBody>
      </p:sp>
      <p:pic>
        <p:nvPicPr>
          <p:cNvPr id="6" name="Picture 5" descr="biggest_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26139"/>
            <a:ext cx="5632704" cy="3788601"/>
          </a:xfrm>
          <a:prstGeom prst="rect">
            <a:avLst/>
          </a:prstGeom>
        </p:spPr>
      </p:pic>
      <p:pic>
        <p:nvPicPr>
          <p:cNvPr id="7" name="Picture 6" descr="biggest_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585188"/>
            <a:ext cx="5632704" cy="38705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888736"/>
            <a:ext cx="11247120" cy="56692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1">
                <a:solidFill>
                  <a:srgbClr val="595959"/>
                </a:solidFill>
                <a:latin typeface="Arial"/>
              </a:rPr>
              <a:t>Per-unit nameplate offline (never summed), the biggest outages each year. Color = PADD region. 2027 non-Exxon H2 is still being booked (an indicative floor).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