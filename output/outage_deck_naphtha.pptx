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Rest of 26 + 27: Naphtha, Reformers &amp; Chem Feed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The forward window: 2026 H1 is actual; the rest of 2026 and all of 2027 are the outlook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The Forward Book by Unit: Rest of 2026 + 2027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 across the forward window (2026 H1 shaded =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focu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564" y="1188720"/>
            <a:ext cx="808839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offline, each unit once per month. Shaded = the current year's H1 (actual, behind us); everything to the right is the forward book (rest of this year + 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Catalytic-reformer offline by month &amp; PADD across 2026-2027,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reform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Over the forward window (rest of 2026 + 2027), ~1,227 kbd of reformer offline = ~1,043 kbd of reformate (octane) not made. P3 (Gulf) carries the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HVN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Heavy virgin naphtha (the reformer feed) across 2026-2027. Left = all PADDs; right = PADD 3 (Gulf)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naphtha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96506"/>
            <a:ext cx="5632704" cy="2447868"/>
          </a:xfrm>
          <a:prstGeom prst="rect">
            <a:avLst/>
          </a:prstGeom>
        </p:spPr>
      </p:pic>
      <p:pic>
        <p:nvPicPr>
          <p:cNvPr id="7" name="Picture 6" descr="naphtha_forward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296506"/>
            <a:ext cx="5632704" cy="24478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(HVN demand) minus CDU offline x 0.35 (HVN supply, ~35% of crude), day-weighted. The forward window runs short -- 15 of 18 months in deficit overall, 13 in PADD 3. The Gulf drives the HVN tightness.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38" y="1188720"/>
            <a:ext cx="1061944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Offline ~1,562 kbd in 2026 and ~832 kbd booked in 2027. Reforming dominates; this is the octane/chem-feed availability a CDU-only tracker misses.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Biggest 2026 &amp; 2027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Biggest individual focus-unit outages, 2026 (left) and 2027 (right),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6139"/>
            <a:ext cx="5632704" cy="3788601"/>
          </a:xfrm>
          <a:prstGeom prst="rect">
            <a:avLst/>
          </a:prstGeom>
        </p:spPr>
      </p:pic>
      <p:pic>
        <p:nvPicPr>
          <p:cNvPr id="7" name="Picture 6" descr="biggest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85188"/>
            <a:ext cx="5632704" cy="38705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(never summed), the biggest outages each year. Color = PADD region. 2027 non-Exxon H2 is still being booked (an indicative floor).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 Outages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Reformer (octane) offline by region &amp; month: 2026 (left) vs 2027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ref_padd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5654"/>
            <a:ext cx="5632704" cy="3069572"/>
          </a:xfrm>
          <a:prstGeom prst="rect">
            <a:avLst/>
          </a:prstGeom>
        </p:spPr>
      </p:pic>
      <p:pic>
        <p:nvPicPr>
          <p:cNvPr id="7" name="Picture 6" descr="ref_padd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reformer offline by month, stacked by PADD. P1 NE, P2 Midwest, P3 Gulf, P4 Rockies, P5 West. P3 (Gulf) carries the bulk of the octane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recently, to ground the forward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91" y="1188720"/>
            <a:ext cx="95377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June; the Feb-freeze and autumn-turnaround windows are the recurring risk to carry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