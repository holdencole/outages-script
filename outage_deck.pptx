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Refinery Outage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26080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D6E0F0"/>
                </a:solidFill>
                <a:latin typeface="Arial"/>
              </a:rPr>
              <a:t>Capacity Offline (kbd) - Planned &amp; Unplanned - 2027 Scenario &amp;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114800"/>
            <a:ext cx="1069848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Data vintage:  46,456 rows  |  2010-2038  |  19,934 distinct outages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Latest full year (2025):  38,674 kbd total offline, 19,258 kbd unplanned (50%)</a:t>
            </a:r>
          </a:p>
          <a:p>
            <a:pPr algn="l">
              <a:spcAft>
                <a:spcPts val="1000"/>
              </a:spcAft>
            </a:pPr>
            <a:r>
              <a:rPr sz="1100" b="0" i="1">
                <a:solidFill>
                  <a:srgbClr val="F0C0C0"/>
                </a:solidFill>
                <a:latin typeface="Arial"/>
              </a:rPr>
              <a:t>2026 &amp; 2027 are partial / planned-only - shown for context, not as finals.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At-a-glance metrics and what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127443" cy="38404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61288"/>
            <a:ext cx="2127443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Total Offline (FY2025)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27048"/>
            <a:ext cx="2127443" cy="100584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2127443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38,674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212744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95959"/>
                </a:solidFill>
                <a:latin typeface="Arial"/>
              </a:rPr>
              <a:t>kbd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1803" y="1143000"/>
            <a:ext cx="2127443" cy="38404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1803" y="1161288"/>
            <a:ext cx="2127443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Unplanned (FY2025)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1803" y="1527048"/>
            <a:ext cx="2127443" cy="100584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1803" y="1572768"/>
            <a:ext cx="2127443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19,258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1803" y="2194560"/>
            <a:ext cx="212744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95959"/>
                </a:solidFill>
                <a:latin typeface="Arial"/>
              </a:rPr>
              <a:t>kbd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2126" y="1143000"/>
            <a:ext cx="2127443" cy="38404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126" y="1161288"/>
            <a:ext cx="2127443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Unplanned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2126" y="1527048"/>
            <a:ext cx="2127443" cy="100584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2126" y="1572768"/>
            <a:ext cx="2127443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2126" y="2194560"/>
            <a:ext cx="212744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95959"/>
                </a:solidFill>
                <a:latin typeface="Arial"/>
              </a:rPr>
              <a:t>of 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449" y="1143000"/>
            <a:ext cx="2127443" cy="38404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449" y="1161288"/>
            <a:ext cx="2127443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Distinct Outages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2449" y="1527048"/>
            <a:ext cx="2127443" cy="100584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449" y="1572768"/>
            <a:ext cx="2127443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1,213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449" y="2194560"/>
            <a:ext cx="212744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95959"/>
                </a:solidFill>
                <a:latin typeface="Arial"/>
              </a:rPr>
              <a:t>FY2025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52772" y="1143000"/>
            <a:ext cx="2127443" cy="38404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2772" y="1161288"/>
            <a:ext cx="2127443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Top PADD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2772" y="1527048"/>
            <a:ext cx="2127443" cy="100584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2772" y="1572768"/>
            <a:ext cx="2127443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PADD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2772" y="2194560"/>
            <a:ext cx="212744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95959"/>
                </a:solidFill>
                <a:latin typeface="Arial"/>
              </a:rPr>
              <a:t>by unplanned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74320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Key Takeaways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209544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154680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PADD 5 dominates unplanned risk at ~20% of US unplanned capacity offline over the baseline window; PADD 2 and PADD 5 are the next largest.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59352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904488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FY2025 total offline of 38,674 kbd was -8% YoY, with the planned/unplanned split near 50/50 (50% unplanned).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709160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654296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Unplanned capacity offline is highly seasonal - peaks in February (winter freeze) and September-October (turnaround), with a summer trough.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458968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404104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2027 is planned-only in the data (15,923 kbd booked). The scenario model adds a baseline-driven unplanned forecast of ~21,790 kbd -&gt; implied total ~37,713 kbd.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Annual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Capacity offline by year, planned + unplanned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77" y="1051560"/>
            <a:ext cx="10142365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Offline capacity peaked in 2020 (COVID / Winter Storm Uri years 2020-21 are outliers and excluded from forecast baselines). Recent years run a roughly even planned/unplanned split.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Unplanned by PADD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Where the unplanned risk concentrates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dd_clus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6400800" cy="4236720"/>
          </a:xfrm>
          <a:prstGeom prst="rect">
            <a:avLst/>
          </a:prstGeom>
        </p:spPr>
      </p:pic>
      <p:pic>
        <p:nvPicPr>
          <p:cNvPr id="7" name="Picture 6" descr="padd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97280"/>
            <a:ext cx="4238803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PADD 3 (Gulf Coast) carries ~47% of US unplanned capacity offline; PADD 5 spiked recently on California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Unplanned offline by calendar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64" y="1051560"/>
            <a:ext cx="10120792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Unplanned outages cluster in late winter (freeze events) and the autumn turnaround window, with a summer trough - the shape that drives the 2027 scenario.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PADD 3 - Reference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2026 plan + unplanned vs 2023-2025 totals and 2027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93" y="1051560"/>
            <a:ext cx="8119734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Gold/orange columns are 2026 booked plan and unplanned; lines are prior-year total offline; the dashed green line is 2027 booked plan. Magnitudes share one axis (honest scale).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PADD 1, 2, 4 &amp;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Same view across the remaining PADDs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dd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264" y="1051560"/>
            <a:ext cx="7412992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PADD 1 is genuinely small; PADD 2 and PADD 5 show the largest swings outside the Gulf Coast. 2027 plan (dashed green) is the only forward-booked series.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Unit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Capacity offline by unit category (all years)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64" y="1051560"/>
            <a:ext cx="8530792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Crude (atmospheric/vacuum distillation), FCC and reforming units account for the bulk of offline capacity - and the bulk of gasoline-relevant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2027 Unplanned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Driver-based forecast vs planned and recent actuals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64" y="1051560"/>
            <a:ext cx="10120792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Default scenario (window 2022-2025, 0% growth, 1.0x multiplier): ~21,790 kbd unplanned on top of 15,923 kbd booked plan -&gt; ~37,713 kbd implied total. Fully tunable in the workbook.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Sensitivity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How the 2027 unplanned forecast flexes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6126480" cy="3983439"/>
          </a:xfrm>
          <a:prstGeom prst="rect">
            <a:avLst/>
          </a:prstGeom>
        </p:spPr>
      </p:pic>
      <p:pic>
        <p:nvPicPr>
          <p:cNvPr id="7" name="Picture 6" descr="torn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5212080" cy="25728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806440"/>
            <a:ext cx="11274552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806440"/>
            <a:ext cx="82296" cy="5669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Arial"/>
              </a:rPr>
              <a:t>Takeaway  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04040"/>
                </a:solidFill>
                <a:latin typeface="Arial"/>
              </a:rPr>
              <a:t>The unplanned-rate multiplier is the dominant driver (Unplanned rate multiplier); the heatmap base case (21,790 kbd) is outlined.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Method &amp;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Read before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Primary metric is CAP_OFFLINE_ADJUSTED_KBD (offline capacity, kbd, all units). Mogas is a secondary overlay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Outage type is binary {PLANNED, UNPLANNED}; UNKNOWN folds into UNPLANNED per desk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70632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06624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2027 is planned-only - any Plan+Unplanned or Unplanned comparison vs 2027 is shown n/a; only Planned is comparable. Unplanned-2027 is a modeled scenario.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83864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9856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2020-2021 (COVID / Winter Storm Uri) are excluded from forecast baselines by default.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97096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33088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Scenario = baseline(window) x (1+growth) x multiplier + one-off(stress month); the Excel workbook recomputes it live from dropdown inputs.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10328"/>
            <a:ext cx="109728" cy="1097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08813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All numbers refresh from the source export - re-run the build to update workbook, deck and dashboard together.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Refinery Outage Analytics  |  Source: Snowflake export (46,456 rows, 2010-2038)  |  Primary metric: capacity offline (kbd)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